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affichée pendant que les élèves entrent. Thonny déjà ouvert sur le poste de démonstration, police 18. Au tableau, écrit et non effacé : « = range dans » et « == est-ce égal à ?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minutes maximum : la séance est dense. Pour finir : « votre jeu connaît ses deux joueurs. Aujourd'hui il apprend à COMPTER, et à RÉFLÉCHIR : si vous demandez la case 12, il vous dira qu'elle n'existe pas.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phrases, on ne détaille rien ici. Prévenez-les que la séance est chargée : « on avance vite aujourd'hui, parce que vous êtes prêts.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BASCULER sur quiz-rappel.pptx (même dossier). 6 questions, 7 minutes montre en main. On ne commente AUCUN résultat individuel du test n°2 : le score est pour moi seul.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Treize minutes, chronométrées. Je tape devant eux, dans un fichier vide. Je code, ils prédisent. Étapes A, B, C de l'anti-sèche.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 DE LANCER : « ça va marcher ? » Beaucoup diront oui. Puis l'erreur. « str, c'est string : du TEXTE.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age = int(age) à voix haute, lentement : c'est la même boîte, elle contenait du texte, elle contient maintenant un nombre. Puis montrer UNE fois l'oubli du str() : c'est le même TypeError, ils le reconnaîtront.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NE RÉPARE PAS, et on le dit : la promesse de la leçon 3 est faite ici. Aujourd'hui on constate, et on sait lire le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minutes seulement, c'est voulu : le but est que chacun ait tapé int() et str() de ses doigts une fois. Je circule, je ne m'assois pas, je ne touche jamais un clavier. Carte bleue : « affiche aussi l'année de naissance : 2026 moins l'âge.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Dix minutes, pas plus. Tout le monde lâche le clavier, écrans face à nous, mains sur la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jouer avec un vrai objet : une boîte, un papier avec un nombre écrit dessus, qu'on remplace. Cinq minutes investies ici en valent trente quand viendront les boucles.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 : 2. On demande AVANT de lancer, et on laisse le silence s'installer. Faites redire la phrase « range dans » par deux élèves avec leurs mots, puis on enchaîne : dix minutes, pas quinze.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PENDANT LA PAUSE : ouvrir GEEKS/mon_xo/jeu.py sur chaque poste. Le bloc qui suit la pause est le plus important de la séance : ne le laissez pas démarrer en retard.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VINGT MINUTES, LE BLOC LE PLUS IMPORTANT DE LA SÉANCE. Claviers lâchés. Étapes E, F, G de l'anti-sèche. Si quelque chose doit déborder, ce n'est pas celui-là.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 DE LANCER : « qu'est-ce que ça peut bien afficher ? » Ils proposeront 8, oui, vrai… Les quatre cartes de réponse ne s'affichent qu'après leurs propositions — ou on les cache en lançant le code d'abord.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écrire au tableau, l'un sous l'autre, et à NE PAS EFFACER de toute la séance. C'est la première chose qu'on montrera à un élève bloqué sur un SyntaxError.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tape TRÈS lentement en nommant chaque geste : « if, deux-points, je passe à la ligne… et regardez : il m'a décalé de quatre espaces tout seul. Ce décalage n'est pas de la décoration. » Puis else, deux-points, et on redécale.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l'erreur qu'ils verront le plus aujourd'hui : qu'ils la voient d'abord sur MON écran, calmement. On remet les 4 espaces devant eux, on relance, ça marche.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 minutes. Le fichier est coupé en trois parties avec un arrêt après chacune. Le bloc if / else de l'étape 6 leur est DONNÉ écrit en commentaire : on ne leur demande pas de l'inventer, mais de le recopier correctement. À 13 h 50 : Ctrl + S tous ensemble, puis on ouvre xo_officiel devant 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à laisser affichée pendant tout l'atelier. Devant un message rouge : on le lit AVEC l'élève, et on demande « qu'est-ce qu'il te dit ? ». On ne touche jamais son clavier.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 de Mur de Mission, 3 minutes de question. Le soir même, dans l'onglet Journal : combien ont écrit un if / else qui marche sans aide.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Dernière phrase. On laisse la diapo affichée pendant la sortie.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466783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429646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466783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9646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66783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429646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JERUSALEM GEEKS  ·  JEREMIAH GEEKS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</a:t>
            </a:r>
            <a:pPr indent="0" marL="0">
              <a:buNone/>
            </a:pPr>
            <a:r>
              <a:rPr lang="en-US" sz="6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6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6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2004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4  —  « Le jeu vérifie et compte »</a:t>
            </a:r>
            <a:endParaRPr lang="en-US" sz="29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977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3 octobre 2026   ·   12 h - 14 h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846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votre jeu apprend à compter — et à réfléchir.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- 12 h 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71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Prière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chaque samedi, on commence par là.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D'AUJOURD'HUI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leçons, deux ateliers.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2514600"/>
            <a:ext cx="566928" cy="566928"/>
          </a:xfrm>
          <a:prstGeom prst="ellipse">
            <a:avLst/>
          </a:prstGeom>
          <a:solidFill>
            <a:srgbClr val="1367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2186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ou nombre ?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730752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"3" + "4" donne 34, et comment obtenir 7.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2900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2514600"/>
            <a:ext cx="566928" cy="56692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32186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compteur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730752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ligne étrange : tour = tour + 1.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1792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2514600"/>
            <a:ext cx="566928" cy="56692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32186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Décider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730752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: le programme choisit tout seul. LA grande nouveauté.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00684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EAF7E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235440" y="2514600"/>
            <a:ext cx="566928" cy="56692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3544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32186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9235440" y="3730752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plateau numéroté, les tours comptés, et la case 12 refusée.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13 h 30, on est dans le projet. Tout le reste sert à y arriver.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15 - 12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93224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33888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93224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33888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93224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33888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7373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6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7432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FLASH</a:t>
            </a:r>
            <a:endParaRPr lang="en-US" sz="5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490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 sur le TP. Cartes de couleur, comme d'habitude.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503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0038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503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0038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3503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0038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057400"/>
            <a:ext cx="1051560" cy="1051560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2057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2103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OU NOMBRE ?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qui change tout, à partir d'aujourd'hui.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CROYEZ TAPER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ce que l'ordinateur reçoit vraiment.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3317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input("Quel age as-tu ? ")</a:t>
            </a:r>
            <a:endParaRPr lang="en-US" sz="24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4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+ 10)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A142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 only concatenate str (not "int") to str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0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tapé 15. Il a reçu du TEXTE. input rend TOUJOURS du texte.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TRADUCTEURS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int() pour calculer, str() pour coller.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3317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int(age)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+ 10)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print("Dans 10 ans tu auras " + str(age + 10) + " ans")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14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range dans age  …  la version NOMBRE de ce qu'il y a dans age »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475488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5010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54126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: nombre entier. Pour CALCULER.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475488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46520" y="5010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554126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: du texte. Pour COLLER avec le +.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32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280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MAINTENANT, JE TAPE  douze.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920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Quel age as-tu ?  douze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2A142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675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literal for int() with base 10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663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Se protéger de ça, ça demande une CONDITION.</a:t>
            </a:r>
            <a:endParaRPr lang="en-US" sz="21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justement : on voit ça dans une heure. »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35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calculatrice d'âge.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6334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son âge au joueur, et transforme-le en nombre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5021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l'âge qu'il aura dans 10 ans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3708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l'âge d'un 2ᵉ joueur, et affiche la somme des deux âges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fichier : calculatrice.py  ·  15 minutes  ·  carte bleue quand tu as fini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50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503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0038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503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0038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3503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0038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057400"/>
            <a:ext cx="1051560" cy="1051560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2057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2103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COMPTEUR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ligne bizarre. Et le socle de tout ce qui vient après.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50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D'ABORD, SANS MACHINE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boîte, et ce qu'on remet dedans.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377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CECF2"/>
          </a:solidFill>
          <a:ln w="19050">
            <a:solidFill>
              <a:srgbClr val="C9C9D6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tour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108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931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début, la boîte contient zéro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2377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6D8"/>
          </a:solidFill>
          <a:ln w="19050">
            <a:solidFill>
              <a:srgbClr val="D79A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65760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tour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3108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3931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prends 0, j'ajoute 1, je REMETS dans la même boîte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2377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6D8"/>
          </a:solidFill>
          <a:ln w="19050">
            <a:solidFill>
              <a:srgbClr val="D79A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9224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tour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108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931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recommence : 1 + 1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0" y="2377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6D8"/>
          </a:solidFill>
          <a:ln w="19050">
            <a:solidFill>
              <a:srgbClr val="D79A0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32688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tour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326880" y="3108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39319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encore : 2 + 1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boîte. La même ligne. Et un résultat différent à chaque fois.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54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= tour + 1</a:t>
            </a:r>
            <a:endParaRPr lang="en-US" sz="5600" dirty="0"/>
          </a:p>
        </p:txBody>
      </p:sp>
      <p:sp>
        <p:nvSpPr>
          <p:cNvPr id="13" name="Shape 11"/>
          <p:cNvSpPr/>
          <p:nvPr/>
        </p:nvSpPr>
        <p:spPr>
          <a:xfrm>
            <a:off x="1645920" y="2697480"/>
            <a:ext cx="8869680" cy="1371600"/>
          </a:xfrm>
          <a:prstGeom prst="roundRect">
            <a:avLst>
              <a:gd name="adj" fmla="val 5333"/>
            </a:avLst>
          </a:prstGeom>
          <a:solidFill>
            <a:srgbClr val="2020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011680" y="28986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signe  =  ne veut PAS dire « égal ».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33832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veut dire  « RANGE DANS ».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343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range dans tour … ce qu'il y a dans tour … plus un »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2240280" y="4983480"/>
            <a:ext cx="7680960" cy="1051560"/>
          </a:xfrm>
          <a:prstGeom prst="roundRect">
            <a:avLst>
              <a:gd name="adj" fmla="val 6957"/>
            </a:avLst>
          </a:prstGeom>
          <a:solidFill>
            <a:srgbClr val="1212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560320" y="521208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= 0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= tour + 1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= tour + 1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print(tour)      -&gt;  0, 1 ou 2 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- 13 h 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71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86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minutes. Levez-vous, sortez, bougez.   ·   Retour à 13 h 10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503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0038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503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0038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3503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0038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4FC3F7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057400"/>
            <a:ext cx="1051560" cy="1051560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2057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2103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COMPARER, PUIS DÉCIDER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3200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moment où votre programme se met à réfléchir.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 qui n'a que deux réponses.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1945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4231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 &gt; 3)      print(5 == 5)</a:t>
            </a:r>
            <a:endParaRPr lang="en-US" sz="21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 &lt; 3)      print(5 != 5)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49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ça affiche ?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425196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EAF7EF"/>
          </a:solidFill>
          <a:ln w="19050">
            <a:solidFill>
              <a:srgbClr val="0C5C29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0080" y="4434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5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429000" y="425196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DEDED"/>
          </a:solidFill>
          <a:ln w="19050">
            <a:solidFill>
              <a:srgbClr val="B01B2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29000" y="4434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217920" y="425196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EAF7EF"/>
          </a:solidFill>
          <a:ln w="19050">
            <a:solidFill>
              <a:srgbClr val="0C5C29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17920" y="4434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5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006840" y="425196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DEDED"/>
          </a:solidFill>
          <a:ln w="19050">
            <a:solidFill>
              <a:srgbClr val="B01B20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006840" y="4434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 ou faux. Jamais un nombre : une RÉPONSE à une question fermée.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14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PIÈGE DU JOUR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88720" y="1920240"/>
            <a:ext cx="4754880" cy="2286000"/>
          </a:xfrm>
          <a:prstGeom prst="roundRect">
            <a:avLst>
              <a:gd name="adj" fmla="val 3200"/>
            </a:avLst>
          </a:prstGeom>
          <a:solidFill>
            <a:srgbClr val="2020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71600" y="22402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15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971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 =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832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dans la boîte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4754880" cy="2286000"/>
          </a:xfrm>
          <a:prstGeom prst="roundRect">
            <a:avLst>
              <a:gd name="adj" fmla="val 3200"/>
            </a:avLst>
          </a:prstGeom>
          <a:solidFill>
            <a:srgbClr val="2020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22402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== 15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971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 ==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3832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égal à ?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663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 =  , c'est un ORDRE.      Deux  ==  , c'est une QUESTION.</a:t>
            </a:r>
            <a:endParaRPr lang="en-US" sz="2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18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: le programme choisit.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6949440" cy="2377440"/>
          </a:xfrm>
          <a:prstGeom prst="roundRect">
            <a:avLst>
              <a:gd name="adj" fmla="val 3077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33172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int(input("Quel age as-tu ? "))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 17: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print("Tu es un Jeremiah Geek !")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print("Tu es un Jerusalem Geek !")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772400" y="2148840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955280" y="2221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deux-points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fin de la ligne du if, et du else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2953512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955280" y="30266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espaces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3319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Thonny les met tout seul : ne les enlève pas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0" y="3758184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955280" y="38313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décalage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1239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lui qui dit CE QUI EST DANS le if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lance DEUX fois, avec deux âges. Le même programme ne fait pas la même chose.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24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J'EFFACE LES QUATRE ESPACES.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212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20574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 17:</a:t>
            </a:r>
            <a:endParaRPr lang="en-US" sz="22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print("Tu es un Jeremiah Geek !")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A142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3611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IndentationError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0873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an indented block after 'if' statement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983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Après les deux-points, il faut DÉCALER.</a:t>
            </a:r>
            <a:endParaRPr lang="en-US" sz="21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le décalage, il ne sait pas ce qui appartient au if. »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30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 — LE PROJET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Numéroter, compter… et refuser.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7556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les DEUX chemins : une fois la case 5, une fois la case 12.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2194560"/>
            <a:ext cx="10881360" cy="2651760"/>
          </a:xfrm>
          <a:prstGeom prst="roundRect">
            <a:avLst>
              <a:gd name="adj" fmla="val 2759"/>
            </a:avLst>
          </a:prstGeom>
          <a:solidFill>
            <a:srgbClr val="1212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242316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| 2 | 3            Joyce, quelle case ? 5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---+---+---           Joyce joue la case 5   (tour numero 1)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| 5 | 6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---+---+---           Gedeon, quelle case ? 12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| 8 | 9            La case 12 n'existe pas ! Choisis entre 1 et 9.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Coups valides joues : 1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Il reste 8 cases libres.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  ① ton prénom   ② les numéros 1 à 9 dans la grille      → carte verte, tu m'attends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3675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  ③ tour = 0   ④ la case devient un nombre   ⑤ ajoute 1   → carte verte, tu m'attends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75157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  ⑥ le if / else : la case au-dessus de 9 est refusée   ⑦ le joueur 2   ⑧ le bilan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32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L'ÉCRAN DEVIENT ROUGE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du jour.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rouge est une information. Lis-le, il te dit où chercher.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2212848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2313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IndentationError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23225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manque les 4 espaces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313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Après deux-points, on décale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761488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2862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28712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Deux-points oubliés, ou = au lieu de ==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2862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 ordre, ou une question 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310128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" y="3410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 DEUX messages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251960" y="34198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print dans le if, zéro dans le else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3410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Relis le décalage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3858768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4400" y="3959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251960" y="39684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texte et un nombre mélangés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39593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int() pour calculer · str() pour coller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4407408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14400" y="4507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51960" y="45171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int() sur autre chose qu'un nombre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4507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Relance, et tape un chiffre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4956048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14400" y="5056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compteur reste à 1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251960" y="50657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as écrit  tour = 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275320" y="5056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C'est  tour = tour + 1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" y="5504688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914400" y="5605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coup refusé est compté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251960" y="5614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= tour + 1 est au-dessus du if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275320" y="5605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Il va DANS le else, décalé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52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jeu sait compter, et il sait refuser.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37744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2606040"/>
            <a:ext cx="566928" cy="56692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310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Mur de Mission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82219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classe avance d'une case. Tout le monde vient l'écrire.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237744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2606040"/>
            <a:ext cx="566928" cy="566928"/>
          </a:xfrm>
          <a:prstGeom prst="ellipse">
            <a:avLst/>
          </a:prstGeom>
          <a:solidFill>
            <a:srgbClr val="13678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310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82219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Qu'avez-vous compris aujourd'hui ? De quoi n'êtes-vous pas encore sûrs ?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écoute, on ne corrige pas. Ce qui revient le plus ouvrira samedi prochain.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1791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8326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1791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8326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1791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8326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SAMEDI PROCHAIN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194560"/>
            <a:ext cx="9509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jeu décide…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il oublie tout.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0233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Joyce joue la case 5, il ne s'en souvient pas.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prochain, le plateau va se souvenir des coups joués.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120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À samedi, les Geeks 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Seance 4 - Le jeu verifie et compte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2026-10-01T16:54:09Z</dcterms:created>
  <dcterms:modified xsi:type="dcterms:W3CDTF">2026-10-01T16:54:09Z</dcterms:modified>
</cp:coreProperties>
</file>