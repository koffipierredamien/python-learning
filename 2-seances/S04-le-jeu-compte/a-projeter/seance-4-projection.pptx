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affichée pendant que les élèves entrent. Thonny déjà ouvert sur le poste de démonstration, police 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à 12 minutes. Pour finir : « samedi dernier vous avez travaillé seuls deux heures, et votre jeu connaît ses deux joueurs. Aujourd'hui il apprend à COMPTER.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phrases. On ne détaille rien ici.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BASCULER sur quiz-rappel.pptx (même dossier). 8 questions, 10 minutes. On ne commente AUCUN résultat individuel du test n°2 : le score est pour moi seul.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Quinze minutes. Je tape devant eux, dans un fichier vide. Je code, ils prédisent.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AVANT DE LANCER : « ça va marcher ? » Beaucoup diront oui. Puis l'erreur. « str, c'est string : du TEXTE. C'est LA chose à retenir aujourd'hui.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lit la ligne age = int(age) à voix haute, lentement. C'est la même boîte : elle contenait du texte, elle contient maintenant un nombre.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NE RÉPARE PAS : se protéger d'une mauvaise saisie demande une condition, qu'ils n'ont pas encore. Aujourd'hui on constate, et on sait lire le message. C'est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l'oubli une fois. Ils reconnaîtront le message : c'est le même TypeError. « Vous le connaissez maintenant : il parle de texte et de nombre mélangés.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circule, je ne m'assois pas, je ne touche jamais un clavier. Carte bleue : « demande l'âge d'un troisième joueur et affiche la moyenne des trois.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PENDANT LA PAUSE : ouvrir GEEKS/mon_xo/jeu.py sur chaque poste.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Quinze minutes. Tout le monde lâche le clavier, écrans face à nous, mains sur la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jouer avec un vrai objet : une boîte, un papier avec un nombre écrit dessus, qu'on remplace. Cinq minutes investies ici en valent trente dans trois séances.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LE PLUS IMPORTANT DE LA SÉANCE. Lentement. Faites-le redire par deux ou trois élèves avec leurs mots avant de passer à la 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Réponse : 3. Si la classe hésite encore ici, on reprend la boîte en carton. Ne passez pas au projet tant que la moitié n'a pas compris.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minutes. Le fichier est coupé en deux parties avec un arrêt au milieu, comme au TP. À 13 h 47 : Ctrl + S tous ensemble, puis on ouvre xo_officiel devant 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 à laisser affichée pendant tout l'atelier.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 de Mur de Mission, 4 minutes de question. On note le soir même dans l'onglet Journal.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Dernière phrase. On laisse la diapo affichée pendant la sortie.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8503920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466783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29646" y="1417320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503920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466783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0429646" y="2380183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466783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429646" y="3343046"/>
            <a:ext cx="713232" cy="713232"/>
          </a:xfrm>
          <a:prstGeom prst="roundRect">
            <a:avLst>
              <a:gd name="adj" fmla="val 2564"/>
            </a:avLst>
          </a:prstGeom>
          <a:solidFill>
            <a:srgbClr val="4FC3F7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1371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06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JERUSALEM GEEKS  ·  JEREMIAH GEEKS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19202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JEU </a:t>
            </a:r>
            <a:pPr indent="0" marL="0">
              <a:buNone/>
            </a:pPr>
            <a:r>
              <a:rPr lang="en-US" sz="6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pPr indent="0" marL="0">
              <a:buNone/>
            </a:pPr>
            <a:r>
              <a:rPr lang="en-US" sz="6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6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Séance 4  —  « Le jeu compte les tours »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3 octobre 2026   ·   12 h - 14 h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4846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Aujourd'hui, votre jeu apprend à compter.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- 12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🙏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40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 chaque samedi, on commence par là.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PROGRAMME D'AUJOURD'HUI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leçons, deux ateliers.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A65D0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quiz flash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 minutes, avec les cartes. On repart de ce qui a coincé.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42900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5760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5760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65760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ou nombre ?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365760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"3" + "4" donne 34, et comment obtenir 7.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644652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compteur</a:t>
            </a:r>
            <a:endParaRPr lang="en-US" sz="19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ligne étrange : tour = tour + 1. C'est le cœur du jour.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9006840" y="2286000"/>
            <a:ext cx="2514600" cy="2651760"/>
          </a:xfrm>
          <a:prstGeom prst="roundRect">
            <a:avLst>
              <a:gd name="adj" fmla="val 2909"/>
            </a:avLst>
          </a:prstGeom>
          <a:solidFill>
            <a:srgbClr val="EAF7E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235440" y="2514600"/>
            <a:ext cx="566928" cy="566928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923544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2" name="Text 30"/>
          <p:cNvSpPr txBox="1"/>
          <p:nvPr/>
        </p:nvSpPr>
        <p:spPr>
          <a:xfrm>
            <a:off x="9235440" y="321868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</a:t>
            </a:r>
            <a:endParaRPr lang="en-US" sz="1900" dirty="0"/>
          </a:p>
        </p:txBody>
      </p:sp>
      <p:sp>
        <p:nvSpPr>
          <p:cNvPr id="33" name="Text 31"/>
          <p:cNvSpPr txBox="1"/>
          <p:nvPr/>
        </p:nvSpPr>
        <p:spPr>
          <a:xfrm>
            <a:off x="9235440" y="3730752"/>
            <a:ext cx="2057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plateau numéroté, la case demandée, et les tours comptés.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13 h 25, on est dans le projet. Tout le reste sert à y arriver.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15 - 12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793224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33888" y="1005840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793224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33888" y="1746504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793224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33888" y="2487168"/>
            <a:ext cx="548640" cy="548640"/>
          </a:xfrm>
          <a:prstGeom prst="roundRect">
            <a:avLst>
              <a:gd name="adj" fmla="val 3333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73736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</a:t>
            </a:r>
            <a:endParaRPr lang="en-US" sz="60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7432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FLASH</a:t>
            </a:r>
            <a:endParaRPr lang="en-US" sz="5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749040"/>
            <a:ext cx="8595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i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questions sur le TP. Cartes de couleur, comme d'habitude.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OU NOMBRE ?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 qui change tout, à partir d'aujourd'hui.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CROYEZ TAPER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ce que l'ordinateur reçoit vraiment.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input("Quel age as-tu ? ")</a:t>
            </a:r>
            <a:endParaRPr lang="en-US" sz="24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 + 10)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2A142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3931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4074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 only concatenate str (not "int") to str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B01B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avez tapé 15. Il a reçu du TEXTE. input rend TOUJOURS du texte.</a:t>
            </a:r>
            <a:endParaRPr lang="en-US" sz="2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29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TRADUCTEUR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 : traite ça comme un nombre.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1737360"/>
          </a:xfrm>
          <a:prstGeom prst="roundRect">
            <a:avLst>
              <a:gd name="adj" fmla="val 4211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input("Quel age as-tu ? ")</a:t>
            </a:r>
            <a:endParaRPr lang="en-US" sz="24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 = int(age)</a:t>
            </a:r>
            <a:endParaRPr lang="en-US" sz="24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print(age + 10)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023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range dans age  …  la version NOMBRE de ce qu'il y a dans age »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40080" y="466344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68680" y="49194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5449824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: nombre entier. Pour CALCULER.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7920" y="4663440"/>
            <a:ext cx="530352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46520" y="49194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5449824"/>
            <a:ext cx="4846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: du texte. Pour COLLER avec le +.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33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MAINTENANT, JE TAPE  douze.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20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Quel age as-tu ?  douze</a:t>
            </a:r>
            <a:endParaRPr lang="en-US" sz="3600" dirty="0"/>
          </a:p>
        </p:txBody>
      </p:sp>
      <p:sp>
        <p:nvSpPr>
          <p:cNvPr id="14" name="Shape 12"/>
          <p:cNvSpPr/>
          <p:nvPr/>
        </p:nvSpPr>
        <p:spPr>
          <a:xfrm>
            <a:off x="640080" y="301752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2A1420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05840" y="3200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ValueError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675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 literal for int() with base 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7548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Je t'ai demandé de transformer ça en nombre. Tu m'as donné douze. »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36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CHEMIN INVERSE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str() : pour recoller un nombre à du texte.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4231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print("Dans 10 ans tu auras " + str(age + 10) + " ans")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40080" y="35661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EAF7EF"/>
          </a:solidFill>
          <a:ln w="19050">
            <a:solidFill>
              <a:srgbClr val="2FB765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3977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C5C2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Dans 10 ans tu auras 25 ans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6400800" y="3566160"/>
            <a:ext cx="5120640" cy="1371600"/>
          </a:xfrm>
          <a:prstGeom prst="roundRect">
            <a:avLst>
              <a:gd name="adj" fmla="val 5333"/>
            </a:avLst>
          </a:prstGeom>
          <a:solidFill>
            <a:srgbClr val="FDEDED"/>
          </a:solidFill>
          <a:ln w="19050">
            <a:solidFill>
              <a:srgbClr val="FF6B6B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675120" y="39776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avec str()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0" y="5029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sans str() : le même message que tout à l'heure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h 40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calculatrice d'âge.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457200" cy="457200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353312" y="243230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 son âge au joueur, et transforme-le en nombre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40080" y="3090672"/>
            <a:ext cx="457200" cy="457200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53312" y="3145536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 l'âge qu'il aura dans 10 ans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40080" y="3803904"/>
            <a:ext cx="457200" cy="457200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3803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85876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Affiche son année de naissance  (2026 moins son âge)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40080" y="4517136"/>
            <a:ext cx="457200" cy="457200"/>
          </a:xfrm>
          <a:prstGeom prst="ellipse">
            <a:avLst/>
          </a:prstGeom>
          <a:solidFill>
            <a:srgbClr val="0C5C2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4517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4572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 l'âge d'un 2ᵉ joueur, et affiche la somme des deux âges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Nouveau fichier : calculatrice.py  ·  20 minutes  ·  carte bleue quand tu as fini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- 13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82880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971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</a:t>
            </a:r>
            <a:endParaRPr lang="en-US" sz="4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8862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minutes. Levez-vous, sortez, bougez.   ·   Retour à 13 h 10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886968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63503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0038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886968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3503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40038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886968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63503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40038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4FC3F7">
              <a:alpha val="12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40080" y="2057400"/>
            <a:ext cx="1051560" cy="1051560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205740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23" name="Text 21"/>
          <p:cNvSpPr txBox="1"/>
          <p:nvPr/>
        </p:nvSpPr>
        <p:spPr>
          <a:xfrm>
            <a:off x="2103120" y="21031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COMPTEUR</a:t>
            </a:r>
            <a:endParaRPr lang="en-US" sz="4000" dirty="0"/>
          </a:p>
        </p:txBody>
      </p:sp>
      <p:sp>
        <p:nvSpPr>
          <p:cNvPr id="24" name="Text 22"/>
          <p:cNvSpPr txBox="1"/>
          <p:nvPr/>
        </p:nvSpPr>
        <p:spPr>
          <a:xfrm>
            <a:off x="2103120" y="32004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ligne bizarre. Et le cœur de tout ce qui vient après.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D'ABORD, SANS MACHINE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boîte, et ce qu'on remet dedans.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ECECF2"/>
          </a:solidFill>
          <a:ln w="19050">
            <a:solidFill>
              <a:srgbClr val="C9C9D6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296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début, la boîte contient zéro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65760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prends 0, j'ajoute 1, je REMETS dans la même boîte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49224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recommence : 1 + 1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144000" y="237744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FF6D8"/>
          </a:solidFill>
          <a:ln w="19050">
            <a:solidFill>
              <a:srgbClr val="D79A00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326880" y="2606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tour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326880" y="310896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414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4000" dirty="0"/>
          </a:p>
        </p:txBody>
      </p:sp>
      <p:sp>
        <p:nvSpPr>
          <p:cNvPr id="29" name="Text 27"/>
          <p:cNvSpPr txBox="1"/>
          <p:nvPr/>
        </p:nvSpPr>
        <p:spPr>
          <a:xfrm>
            <a:off x="9326880" y="39319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encore : 2 + 1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même boîte. La même ligne. Et un résultat différent à chaque fois.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15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1554480"/>
            <a:ext cx="10881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tour + 1</a:t>
            </a:r>
            <a:endParaRPr lang="en-US" sz="5600" dirty="0"/>
          </a:p>
        </p:txBody>
      </p:sp>
      <p:sp>
        <p:nvSpPr>
          <p:cNvPr id="13" name="Shape 11"/>
          <p:cNvSpPr/>
          <p:nvPr/>
        </p:nvSpPr>
        <p:spPr>
          <a:xfrm>
            <a:off x="1645920" y="2926080"/>
            <a:ext cx="8869680" cy="1371600"/>
          </a:xfrm>
          <a:prstGeom prst="roundRect">
            <a:avLst>
              <a:gd name="adj" fmla="val 5333"/>
            </a:avLst>
          </a:prstGeom>
          <a:solidFill>
            <a:srgbClr val="2020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011680" y="31272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signe  =  ne veut PAS dire « égal ».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011680" y="361188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veut dire  « RANGE DANS ».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6634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range dans tour … ce qu'il y a dans tour … plus un »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PREUVE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fois exactement la même ligne.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94560"/>
            <a:ext cx="5760720" cy="2377440"/>
          </a:xfrm>
          <a:prstGeom prst="roundRect">
            <a:avLst>
              <a:gd name="adj" fmla="val 3077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423160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0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tour + 1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tour + 1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 = tour + 1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print(tour)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23774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0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8404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Qu'est-ce qui s'affiche :</a:t>
            </a:r>
            <a:endParaRPr lang="en-US" sz="2400" dirty="0"/>
          </a:p>
          <a:p>
            <a:pPr algn="ctr"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  1,  ou  3 ?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demande AVANT de lancer. Et on laisse le silence s'installer.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25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VOUS — LE PROJET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plateau numéroté, et les tours comptés.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103120"/>
            <a:ext cx="10881360" cy="2468880"/>
          </a:xfrm>
          <a:prstGeom prst="roundRect">
            <a:avLst>
              <a:gd name="adj" fmla="val 2963"/>
            </a:avLst>
          </a:prstGeom>
          <a:solidFill>
            <a:srgbClr val="121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233172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| 2 | 3            Joyce, quelle case ? 5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Joyce joue la case 5   (tour numero 1)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 | 5 | 6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---+---+---           Gedeon, quelle case ? 1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 | 8 | 9            Gedeon joue la case 1   (tour numero 2)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Il reste 7 cases libres.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7091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ton prénom   ② les numéros 1 à 9 dans la grille   ③ tour = 0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5093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la case tapée devient un nombre   ⑤ ajoute 1 au compteur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47725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⑥ recopie les 4 lignes pour le joueur 2 — le compteur NE repart PAS de zéro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861304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⑦ affiche combien de cases restent libres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Arrêt après l'étape ② : carte verte, et tu m'attends.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30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L'ÉCRAN DEVIENT ROUGE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du jour.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248716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TypeError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250545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texte et un nombre mélangés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955280" y="24871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int() pour calculer · str() pour coller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15468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14400" y="335584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ValueError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337413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int() sur autre chose qu'un nombre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55280" y="335584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Relance, et tape un chiffre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402336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14400" y="42245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 compteur reste à 1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206240" y="424281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écrit  tour = 1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955280" y="422452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C'est  tour = tour + 1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4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14400" y="50932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01B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Il repart à 1 au 2ᵉ tour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206240" y="511149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as recopié  tour = 0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955280" y="509320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C5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Le zéro, une seule fois, au début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A65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rouge est une information. Lis-le, il te dit où chercher.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5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h 50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6B2D8F">
              <a:alpha val="3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457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868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1414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sait compter.</a:t>
            </a:r>
            <a:endParaRPr lang="en-US" sz="4000" dirty="0"/>
          </a:p>
        </p:txBody>
      </p:sp>
      <p:sp>
        <p:nvSpPr>
          <p:cNvPr id="14" name="Shape 12"/>
          <p:cNvSpPr/>
          <p:nvPr/>
        </p:nvSpPr>
        <p:spPr>
          <a:xfrm>
            <a:off x="640080" y="22860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2514600"/>
            <a:ext cx="566928" cy="566928"/>
          </a:xfrm>
          <a:prstGeom prst="ellipse">
            <a:avLst/>
          </a:prstGeom>
          <a:solidFill>
            <a:srgbClr val="6B2D8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32186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Mur de Mission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73075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classe avance d'une case. Tout le monde vient l'écrire.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17920" y="2286000"/>
            <a:ext cx="53035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20204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46520" y="2514600"/>
            <a:ext cx="566928" cy="566928"/>
          </a:xfrm>
          <a:prstGeom prst="ellipse">
            <a:avLst/>
          </a:prstGeom>
          <a:solidFill>
            <a:srgbClr val="13678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46520" y="2514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32186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367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question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3730752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5A5A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Qu'avez-vous compris aujourd'hui ? De quoi n'êtes-vous pas encore sûrs ?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4406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6B2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écoute, on ne corrige pas. Ce qui revient le plus ouvrira samedi prochain.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2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509760" y="6181344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8A8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h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11558016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1650599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743182" y="6217920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1558016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1650599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743182" y="6310503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1558016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1650599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1743182" y="6403086"/>
            <a:ext cx="68580" cy="68580"/>
          </a:xfrm>
          <a:prstGeom prst="roundRect">
            <a:avLst>
              <a:gd name="adj" fmla="val 26667"/>
            </a:avLst>
          </a:prstGeom>
          <a:solidFill>
            <a:srgbClr val="4FC3F7">
              <a:alpha val="4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052560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9817913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583266" y="1097280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9052560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817913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583266" y="1862633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9052560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9817913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0583266" y="2627986"/>
            <a:ext cx="566928" cy="566928"/>
          </a:xfrm>
          <a:prstGeom prst="roundRect">
            <a:avLst>
              <a:gd name="adj" fmla="val 3226"/>
            </a:avLst>
          </a:prstGeom>
          <a:solidFill>
            <a:srgbClr val="FFB74D">
              <a:alpha val="15000"/>
            </a:srgbClr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15544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FB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SAMEDI PROCHAIN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2194560"/>
            <a:ext cx="9509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jeu compte…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il oublie tout.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40233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Joyce joue la case 5, il ne s'en souvient pas.</a:t>
            </a:r>
            <a:endParaRPr lang="en-US" sz="20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A8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Samedi prochain, le plateau va se souvenir des coups joués.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120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 À samedi, les Geeks 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Seance 4 - Le jeu compte les tours</dc:title>
  <dc:subject>PptxGenJS Presentation</dc:subject>
  <dc:creator>Jerusalem Geeks &amp; Jeremiah Geeks</dc:creator>
  <cp:lastModifiedBy>Jerusalem Geeks &amp; Jeremiah Geeks</cp:lastModifiedBy>
  <cp:revision>1</cp:revision>
  <dcterms:created xsi:type="dcterms:W3CDTF">2026-10-01T16:22:29Z</dcterms:created>
  <dcterms:modified xsi:type="dcterms:W3CDTF">2026-10-01T16:22:29Z</dcterms:modified>
</cp:coreProperties>
</file>