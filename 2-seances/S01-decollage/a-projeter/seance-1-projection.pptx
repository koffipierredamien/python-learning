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 affichée pendant que les élèves entrent. Le jeu XO terminé est déjà lancé et réduit dans la barre des tâches.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Temps de prière : 10 à 12 minutes. Phrase de lien pour finir : « On va apprendre à donner des ordres à des machines. Que ce qu'on construira ici serve, et serve bien.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NE DIS PAS BONJOUR. Je passe sur le jeu XO (déjà lancé), plein écran, en silence, 5 secondes. Puis je prends un volontaire, mode 2 JOUEURS, et JE PERDS la partie. Applaudissements. Puis : « Ce jeu, ce n'est pas moi qui vais le faire. C'EST VOUS.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montre aussi le Mur de Mission affiché au mur. Insister : la classe avance, pas un élève seul.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bracelets / autocollants de grade sont remis à la clôture, à 13 h 55.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trois promesses, dites lentement. La troisième sera démontrée à 13 h 57 avec le code officiel.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m'arrête sur la première règle. C'est celle qui rend possible tout le reste.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 de 4 minutes. Je pose la question avant de répondre.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laisse vraiment répondre. Les élèves citent des choses auxquelles je n'aurais pas pensé.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ouverte à noter au tableau : « qu'est-ce que vous aimeriez que la machine fasse, et qu'elle ne fait pas encore ? » On y reviendra à la dernière séance.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 de 5 minutes, en jeu de questions-réponses. Rythme rapide.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nomme, ils répondent à main levée, j'explique en UNE phrase. Les phrases sont sur mon script papier.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marque un temps d'arrêt après la question, avant de donner la réponse.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CŒUR ÉMOTIONNEL DE LA SÉANCE. 8 minutes. Je raconte, je ne lis pas.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 premier programme servait à envoyer des messages entre les ordinateurs de la maison de ses parents. C'était minuscule. Il l'a fait quand même.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marque : « Douze ans. Vous avez presque son âge.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C'est le bloc le plus important de la séance. Je ralentis. Je regarde les élèves, pas l'écran.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j'ai internet et du temps en dehors de la séance : sa conférence existe en vidéo, elle dure 4 minutes. À montrer un autre samedi, pas aujourd'hui.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ne cite pas le montant exact si je ne l'ai pas vérifié. « Une somme énorme » suffit — et c'est plus fort.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C'est le portrait à souligner devant les filles de la classe. Et le message central : coder, ce n'est pas faire des jeux, c'est résoudre.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importante : jusqu'ici, des Américains et un Britannique. Maintenant, l'Afrique.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À souligner : elle a fait ça ici, depuis l'Afrique, pas depuis la Silicon Valley.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Honnêteté : Kelvin a commencé par l'électronique, pas par le code. Je le dis — et je dis que c'est le même état d'esprit : fabriquer avec ce qu'on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phrase de la séance. Je la dis lentement, et je laisse le silence après.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vers le bloc suivant : « mais comment une machine peut-elle comprendre des mots ?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 de 7 minutes, dont 3 minutes d'activité debout avec 8 élèves.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ACTIVITÉ : je fais lever 8 élèves en ligne. Je dicte : assis, debout, assis, assis, assis, assis, assis, debout. « Voilà. Vous êtes la lettre A.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rhétorique, puis la réponse. C'est la justification de l'existence de Python.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dessine aussi la chaîne au tableau pendant que je parle : elle doit rester visible tout l'après-midi.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Phrase clé de tout le parcours. Elle reviendra dans le Kahoot et à chaque erreur d'élève.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 de 6 minutes, dont 4 minutes avec le robot humain.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ACTIVITÉ : un élève volontaire au fond de la salle. Il obéit à la lettre — donc il se cogne, il tourne dans le vide. C'est l'effet recherché : on rit, et on comprend.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fais recopier la définition. Elle est aussi écrite au tableau.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vers la pause, puis les missions de décollage — qui contiennent justement l'énigme du robot et celle du morpion.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Pendant la pause : installer les 3 stations, revérifier le Kahoot. NE PAS faire les binômes aujourd'hui.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ne prononce JAMAIS le mot « test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fais 3 groupes, je montre les 3 zones du doigt, j'annonce chaque rotation à voix haute. Je tiens la station 1 et je cote /6.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moment qu'ils attendent depuis 1 h 30. Je le théâtralise.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cartes sont déjà posées sur chaque poste. On les pose bien visibles sur l'écran, et on continue à travailler.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L'affiche correspondante est au mur. Je la montre du doigt en parlant.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tape en direct dans Thonny, très lentement, en verbalisant chaque caractère. Je NE lance PAS avant leur réponse.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MOMENT LE PLUS IMPORTANT DE LA SÉANCE. Je souris. « Moi je code depuis des années, et j'ai du rouge tous les jours. » Puis je répare devant eux, je relance, ça marche. Et j'écris SyntaxError sur l'affiche du Dictionnaire des erreurs.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minutes. À 13 h 42 je compte les écrans : s'il reste un poste où rien n'est jamais sorti, on y va tous les deux. À 13 h 44 : « Fichier, Enregistrer, pouce levé.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J'explique la réponse en UNE phrase après chaque question — c'est ça qui transforme le jeu en enseignement. Je m'arrête à 13 h 55, question en cours ou pas.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désigne l'élève le plus discret de la séance pour colorier la case 1 du Mur de 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Défi maison FACULTATIF : expliquer à quelqu'un chez soi ce qu'est un algorithme. Redire : « si vous n'avez pas d'ordinateur à la maison, aucun problème, vous ne serez jamais en retard.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503920" y="1417320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466783" y="1417320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429646" y="1417320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503920" y="2380183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466783" y="2380183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429646" y="2380183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503920" y="3343046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466783" y="3343046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429646" y="3343046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1371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JERUSALEM GEEKS  ·  JEREMIAH GEEKS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19202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JEU </a:t>
            </a:r>
            <a:pPr indent="0" marL="0">
              <a:buNone/>
            </a:pPr>
            <a:r>
              <a:rPr lang="en-US" sz="6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pPr indent="0" marL="0">
              <a:buNone/>
            </a:pPr>
            <a:r>
              <a:rPr lang="en-US" sz="6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68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2004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  —  « Le Décollage »</a:t>
            </a:r>
            <a:endParaRPr lang="en-US" sz="32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977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samedi 12 septembre 2026   ·   12 h - 14 h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846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Aujourd'hui, vous devenez ceux qui écrivent.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- 12 h 15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182880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971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Prière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 chaque samedi, on commence par là.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15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37744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REGARDEZ L'ÉCRAN.</a:t>
            </a:r>
            <a:endParaRPr lang="en-US" sz="6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me faut un volontaire.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19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ALLEZ CONSTRUIRE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samedis. Une brique à la fois.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640080" y="2148840"/>
            <a:ext cx="1536192" cy="868680"/>
          </a:xfrm>
          <a:prstGeom prst="roundRect">
            <a:avLst>
              <a:gd name="adj" fmla="val 8421"/>
            </a:avLst>
          </a:prstGeom>
          <a:solidFill>
            <a:srgbClr val="0C5C29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31520" y="22219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2478024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jeu dit bonjour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32304" y="2148840"/>
            <a:ext cx="15361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2523744" y="22219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523744" y="2478024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demande ton nom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24528" y="2148840"/>
            <a:ext cx="15361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315968" y="22219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315968" y="2478024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2 joueurs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16752" y="2148840"/>
            <a:ext cx="15361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108192" y="22219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108192" y="2478024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plateau s'affiche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808976" y="2148840"/>
            <a:ext cx="15361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7900416" y="22219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900416" y="2478024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cases numérotées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601200" y="2148840"/>
            <a:ext cx="15361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9692640" y="22219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692640" y="2478024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place un X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3337560"/>
            <a:ext cx="15361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731520" y="34107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31520" y="3666744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et O à tour de rôle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432304" y="3337560"/>
            <a:ext cx="1536192" cy="868680"/>
          </a:xfrm>
          <a:prstGeom prst="roundRect">
            <a:avLst>
              <a:gd name="adj" fmla="val 8421"/>
            </a:avLst>
          </a:prstGeom>
          <a:solidFill>
            <a:srgbClr val="FFF6D8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2523744" y="34107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2523744" y="3666744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1ʳᵉ DÉMO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224528" y="3337560"/>
            <a:ext cx="15361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4315968" y="34107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4315968" y="3666744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Coups interdits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016752" y="3337560"/>
            <a:ext cx="15361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6108192" y="34107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108192" y="3666744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compte des tours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808976" y="3337560"/>
            <a:ext cx="15361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45" name="Text 43"/>
          <p:cNvSpPr txBox="1"/>
          <p:nvPr/>
        </p:nvSpPr>
        <p:spPr>
          <a:xfrm>
            <a:off x="7900416" y="34107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7900416" y="3666744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code se range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601200" y="3337560"/>
            <a:ext cx="15361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48" name="Text 46"/>
          <p:cNvSpPr txBox="1"/>
          <p:nvPr/>
        </p:nvSpPr>
        <p:spPr>
          <a:xfrm>
            <a:off x="9692640" y="34107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9692640" y="3666744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gagnant détecté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640080" y="4617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…et jusqu'à la case 22 : le tournoi, devant vos familles.</a:t>
            </a:r>
            <a:endParaRPr lang="en-US" sz="1600" dirty="0"/>
          </a:p>
        </p:txBody>
      </p:sp>
      <p:sp>
        <p:nvSpPr>
          <p:cNvPr id="51" name="Text 49"/>
          <p:cNvSpPr txBox="1"/>
          <p:nvPr/>
        </p:nvSpPr>
        <p:spPr>
          <a:xfrm>
            <a:off x="640080" y="5257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avance ENSEMBLE : une case par samedi, pour toute la classe.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21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PROGRESSION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Novice à Maître Geek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640080" y="2377440"/>
            <a:ext cx="1417320" cy="1417320"/>
          </a:xfrm>
          <a:prstGeom prst="ellipse">
            <a:avLst/>
          </a:prstGeom>
          <a:solidFill>
            <a:srgbClr val="DDDDE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23774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7889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Novice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121408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2468880" y="2377440"/>
            <a:ext cx="1417320" cy="1417320"/>
          </a:xfrm>
          <a:prstGeom prst="ellipse">
            <a:avLst/>
          </a:prstGeom>
          <a:solidFill>
            <a:srgbClr val="FFE9A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468880" y="23774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468880" y="27889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Codeur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950208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4297680" y="2377440"/>
            <a:ext cx="1417320" cy="1417320"/>
          </a:xfrm>
          <a:prstGeom prst="ellipse">
            <a:avLst/>
          </a:prstGeom>
          <a:solidFill>
            <a:srgbClr val="FFCE8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297680" y="23774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297680" y="27889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Codeur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779008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6126480" y="2377440"/>
            <a:ext cx="1417320" cy="1417320"/>
          </a:xfrm>
          <a:prstGeom prst="ellipse">
            <a:avLst/>
          </a:prstGeom>
          <a:solidFill>
            <a:srgbClr val="A8E6C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126480" y="23774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126480" y="27889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Ingénieur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607808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30" name="Shape 28"/>
          <p:cNvSpPr/>
          <p:nvPr/>
        </p:nvSpPr>
        <p:spPr>
          <a:xfrm>
            <a:off x="7955280" y="2377440"/>
            <a:ext cx="1417320" cy="1417320"/>
          </a:xfrm>
          <a:prstGeom prst="ellipse">
            <a:avLst/>
          </a:prstGeom>
          <a:solidFill>
            <a:srgbClr val="A8D4F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955280" y="23774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955280" y="27889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Architecte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9436608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34" name="Shape 32"/>
          <p:cNvSpPr/>
          <p:nvPr/>
        </p:nvSpPr>
        <p:spPr>
          <a:xfrm>
            <a:off x="9784080" y="2377440"/>
            <a:ext cx="1417320" cy="1417320"/>
          </a:xfrm>
          <a:prstGeom prst="ellipse">
            <a:avLst/>
          </a:prstGeom>
          <a:solidFill>
            <a:srgbClr val="12122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784080" y="23774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9784080" y="27889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Geek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4297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grade ne s'obtient pas en venant. Il s'obtient quand ton programme marche,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tu sais l'expliquer, et que tu sais le refaire.</a:t>
            </a:r>
            <a:endParaRPr lang="en-US" sz="19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53949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Aujourd'hui, vous repartez tous Novices.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22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TROIS PROMESSES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je vous promets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640080" y="228600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20204A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2560320"/>
            <a:ext cx="640080" cy="640080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1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338328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samedi,</a:t>
            </a:r>
            <a:endParaRPr lang="en-US" sz="19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 jeu marchera mieux</a:t>
            </a:r>
            <a:endParaRPr lang="en-US" sz="19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qu'en arrivant.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5720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samedi. Tous.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43400" y="228600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20204A"/>
          </a:solidFill>
          <a:ln/>
        </p:spPr>
      </p:sp>
      <p:sp>
        <p:nvSpPr>
          <p:cNvPr id="20" name="Shape 18"/>
          <p:cNvSpPr/>
          <p:nvPr/>
        </p:nvSpPr>
        <p:spPr>
          <a:xfrm>
            <a:off x="4617720" y="2560320"/>
            <a:ext cx="640080" cy="640080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61772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1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4617720" y="338328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n'y a AUCUNE note.</a:t>
            </a:r>
            <a:endParaRPr lang="en-US" sz="19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Jamais.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4617720" y="45720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n'est comparé à personne.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046720" y="228600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20204A"/>
          </a:solidFill>
          <a:ln/>
        </p:spPr>
      </p:sp>
      <p:sp>
        <p:nvSpPr>
          <p:cNvPr id="25" name="Shape 23"/>
          <p:cNvSpPr/>
          <p:nvPr/>
        </p:nvSpPr>
        <p:spPr>
          <a:xfrm>
            <a:off x="8321040" y="2560320"/>
            <a:ext cx="640080" cy="640080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32104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1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8321040" y="338328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tu es absent,</a:t>
            </a:r>
            <a:endParaRPr lang="en-US" sz="19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ne seras PAS en retard.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8321040" y="45720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J'ai un système pour ça.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24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ÉCHANGE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je vous demande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2860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2240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 se moque JAMAIS</a:t>
            </a:r>
            <a:endParaRPr lang="en-US" sz="23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2402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quelqu'un qui n'a pas compris, ou qui va moins vite.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la seule règle pour laquelle je me fâcherai.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520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474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 dit pas « je suis nul »</a:t>
            </a:r>
            <a:endParaRPr lang="en-US" sz="23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34747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dit : « je n'ai pas encore trouvé ».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7548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4709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essaie</a:t>
            </a:r>
            <a:endParaRPr lang="en-US" sz="23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47091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quand on n'est pas sûr. Surtout quand on n'est pas sûr.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25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869680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635033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400386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869680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635033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400386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869680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635033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400386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2057400"/>
            <a:ext cx="1051560" cy="1051560"/>
          </a:xfrm>
          <a:prstGeom prst="ellipse">
            <a:avLst/>
          </a:prstGeom>
          <a:solidFill>
            <a:srgbClr val="6B2D8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20574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23" name="Text 21"/>
          <p:cNvSpPr txBox="1"/>
          <p:nvPr/>
        </p:nvSpPr>
        <p:spPr>
          <a:xfrm>
            <a:off x="2103120" y="210312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CODER ?</a:t>
            </a:r>
            <a:endParaRPr lang="en-US" sz="4000" dirty="0"/>
          </a:p>
        </p:txBody>
      </p:sp>
      <p:sp>
        <p:nvSpPr>
          <p:cNvPr id="24" name="Text 22"/>
          <p:cNvSpPr txBox="1"/>
          <p:nvPr/>
        </p:nvSpPr>
        <p:spPr>
          <a:xfrm>
            <a:off x="2103120" y="3200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celui qui utilise… à celui qui écrit.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25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POURQUOI CODER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740"/>
              </a:lnSpc>
              <a:buNone/>
            </a:pPr>
            <a:r>
              <a:rPr lang="en-US" sz="34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matin, combien d'ordres</a:t>
            </a:r>
            <a:endParaRPr lang="en-US" sz="3400" dirty="0"/>
          </a:p>
          <a:p>
            <a:pPr indent="0" marL="0">
              <a:lnSpc>
                <a:spcPts val="3740"/>
              </a:lnSpc>
              <a:buNone/>
            </a:pPr>
            <a:r>
              <a:rPr lang="en-US" sz="34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avez-vous donnés à une machine ?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640080" y="2880360"/>
            <a:ext cx="1600200" cy="16916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0080" y="30632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7947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allumer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téléphone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468880" y="2880360"/>
            <a:ext cx="1600200" cy="16916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2468880" y="30632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2560320" y="37947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envoyer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message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97680" y="2880360"/>
            <a:ext cx="1600200" cy="16916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297680" y="30632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4389120" y="37947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musique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26480" y="2880360"/>
            <a:ext cx="1600200" cy="16916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126480" y="30632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6217920" y="37947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retirer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l'argent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955280" y="2880360"/>
            <a:ext cx="1600200" cy="16916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7955280" y="30632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</a:t>
            </a:r>
            <a:endParaRPr lang="en-US" sz="3000" dirty="0"/>
          </a:p>
        </p:txBody>
      </p:sp>
      <p:sp>
        <p:nvSpPr>
          <p:cNvPr id="28" name="Text 26"/>
          <p:cNvSpPr txBox="1"/>
          <p:nvPr/>
        </p:nvSpPr>
        <p:spPr>
          <a:xfrm>
            <a:off x="8046720" y="37947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regarder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l'heure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784080" y="2880360"/>
            <a:ext cx="1600200" cy="16916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9784080" y="30632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📺</a:t>
            </a:r>
            <a:endParaRPr lang="en-US" sz="3000" dirty="0"/>
          </a:p>
        </p:txBody>
      </p:sp>
      <p:sp>
        <p:nvSpPr>
          <p:cNvPr id="31" name="Text 29"/>
          <p:cNvSpPr txBox="1"/>
          <p:nvPr/>
        </p:nvSpPr>
        <p:spPr>
          <a:xfrm>
            <a:off x="9875520" y="37947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vidéo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48920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1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Chacun de ces gestes, une machine l'a exécuté parce que quelqu'un, un jour,</a:t>
            </a:r>
            <a:endParaRPr lang="en-US" sz="21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1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 a écrit quoi faire.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27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POURQUOI CODER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1920240"/>
            <a:ext cx="4480560" cy="2286000"/>
          </a:xfrm>
          <a:prstGeom prst="roundRect">
            <a:avLst>
              <a:gd name="adj" fmla="val 3200"/>
            </a:avLst>
          </a:prstGeom>
          <a:solidFill>
            <a:srgbClr val="EDEDF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05840" y="2194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26060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utilisez</a:t>
            </a:r>
            <a:endParaRPr lang="en-US" sz="25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d'autres</a:t>
            </a:r>
            <a:endParaRPr lang="en-US" sz="25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 écrit.</a:t>
            </a:r>
            <a:endParaRPr lang="en-US" sz="2500" dirty="0"/>
          </a:p>
        </p:txBody>
      </p:sp>
      <p:sp>
        <p:nvSpPr>
          <p:cNvPr id="16" name="Shape 14"/>
          <p:cNvSpPr/>
          <p:nvPr/>
        </p:nvSpPr>
        <p:spPr>
          <a:xfrm>
            <a:off x="5440680" y="2788920"/>
            <a:ext cx="1280160" cy="566928"/>
          </a:xfrm>
          <a:prstGeom prst="rightArrow">
            <a:avLst/>
          </a:prstGeom>
          <a:solidFill>
            <a:srgbClr val="6B2D8F"/>
          </a:solidFill>
          <a:ln/>
        </p:spPr>
      </p:sp>
      <p:sp>
        <p:nvSpPr>
          <p:cNvPr id="17" name="Shape 15"/>
          <p:cNvSpPr/>
          <p:nvPr/>
        </p:nvSpPr>
        <p:spPr>
          <a:xfrm>
            <a:off x="6903720" y="1920240"/>
            <a:ext cx="4617720" cy="2286000"/>
          </a:xfrm>
          <a:prstGeom prst="roundRect">
            <a:avLst>
              <a:gd name="adj" fmla="val 3200"/>
            </a:avLst>
          </a:prstGeom>
          <a:solidFill>
            <a:srgbClr val="6B2D8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269480" y="2194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PARTIR DE MAINTENANT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269480" y="260604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devenez</a:t>
            </a:r>
            <a:endParaRPr lang="en-US" sz="28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ceux qui écrivent.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5262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60"/>
              </a:lnSpc>
              <a:buNone/>
            </a:pPr>
            <a:r>
              <a:rPr lang="en-US" sz="26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ça sert à trois choses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166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36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 FABRIQUER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5321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outils qui n'existent pas encore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343400" y="5166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36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RÉSOUDRE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4343400" y="55321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vrais problèmes autour de vous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046720" y="5166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36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COMPRENDRE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046720" y="55321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monde où vous vivez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29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869680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635033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400386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869680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635033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400386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869680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635033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400386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2057400"/>
            <a:ext cx="1051560" cy="1051560"/>
          </a:xfrm>
          <a:prstGeom prst="ellipse">
            <a:avLst/>
          </a:prstGeom>
          <a:solidFill>
            <a:srgbClr val="6B2D8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20574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23" name="Text 21"/>
          <p:cNvSpPr txBox="1"/>
          <p:nvPr/>
        </p:nvSpPr>
        <p:spPr>
          <a:xfrm>
            <a:off x="2103120" y="210312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SE CACHE LE CODE ?</a:t>
            </a:r>
            <a:endParaRPr lang="en-US" sz="4000" dirty="0"/>
          </a:p>
        </p:txBody>
      </p:sp>
      <p:sp>
        <p:nvSpPr>
          <p:cNvPr id="24" name="Text 22"/>
          <p:cNvSpPr txBox="1"/>
          <p:nvPr/>
        </p:nvSpPr>
        <p:spPr>
          <a:xfrm>
            <a:off x="2103120" y="3200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absolument tous les métiers. On vérifie.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29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OÙ SE CACHE LE CODE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y a du code là-dedans ?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640080" y="1965960"/>
            <a:ext cx="2011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0080" y="213055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28072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jeux vidéo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880360" y="1965960"/>
            <a:ext cx="2011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2880360" y="213055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2971800" y="28072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santé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120640" y="1965960"/>
            <a:ext cx="2011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5120640" y="213055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5212080" y="28072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L'agriculture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60920" y="1965960"/>
            <a:ext cx="2011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7360920" y="213055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7452360" y="28072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musique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601200" y="1965960"/>
            <a:ext cx="2011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9601200" y="213055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</a:t>
            </a:r>
            <a:endParaRPr lang="en-US" sz="2800" dirty="0"/>
          </a:p>
        </p:txBody>
      </p:sp>
      <p:sp>
        <p:nvSpPr>
          <p:cNvPr id="28" name="Text 26"/>
          <p:cNvSpPr txBox="1"/>
          <p:nvPr/>
        </p:nvSpPr>
        <p:spPr>
          <a:xfrm>
            <a:off x="9692640" y="28072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transports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0080" y="3520440"/>
            <a:ext cx="2011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640080" y="368503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</a:t>
            </a:r>
            <a:endParaRPr lang="en-US" sz="2800" dirty="0"/>
          </a:p>
        </p:txBody>
      </p:sp>
      <p:sp>
        <p:nvSpPr>
          <p:cNvPr id="31" name="Text 29"/>
          <p:cNvSpPr txBox="1"/>
          <p:nvPr/>
        </p:nvSpPr>
        <p:spPr>
          <a:xfrm>
            <a:off x="731520" y="43616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L'argent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880360" y="3520440"/>
            <a:ext cx="2011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2880360" y="368503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</a:t>
            </a:r>
            <a:endParaRPr lang="en-US" sz="2800" dirty="0"/>
          </a:p>
        </p:txBody>
      </p:sp>
      <p:sp>
        <p:nvSpPr>
          <p:cNvPr id="34" name="Text 32"/>
          <p:cNvSpPr txBox="1"/>
          <p:nvPr/>
        </p:nvSpPr>
        <p:spPr>
          <a:xfrm>
            <a:off x="2971800" y="43616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cinéma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120640" y="3520440"/>
            <a:ext cx="2011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5120640" y="368503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2800" dirty="0"/>
          </a:p>
        </p:txBody>
      </p:sp>
      <p:sp>
        <p:nvSpPr>
          <p:cNvPr id="37" name="Text 35"/>
          <p:cNvSpPr txBox="1"/>
          <p:nvPr/>
        </p:nvSpPr>
        <p:spPr>
          <a:xfrm>
            <a:off x="5212080" y="43616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L'espace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360920" y="3520440"/>
            <a:ext cx="2011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7360920" y="368503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⚽</a:t>
            </a:r>
            <a:endParaRPr lang="en-US" sz="2800" dirty="0"/>
          </a:p>
        </p:txBody>
      </p:sp>
      <p:sp>
        <p:nvSpPr>
          <p:cNvPr id="40" name="Text 38"/>
          <p:cNvSpPr txBox="1"/>
          <p:nvPr/>
        </p:nvSpPr>
        <p:spPr>
          <a:xfrm>
            <a:off x="7452360" y="43616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sport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9601200" y="3520440"/>
            <a:ext cx="2011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lève la main : oui ou non ?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33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5029200"/>
            <a:ext cx="384048" cy="384048"/>
          </a:xfrm>
          <a:prstGeom prst="roundRect">
            <a:avLst>
              <a:gd name="adj" fmla="val 4762"/>
            </a:avLst>
          </a:prstGeom>
          <a:solidFill>
            <a:srgbClr val="4FC3F7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58545" y="5029200"/>
            <a:ext cx="384048" cy="384048"/>
          </a:xfrm>
          <a:prstGeom prst="roundRect">
            <a:avLst>
              <a:gd name="adj" fmla="val 4762"/>
            </a:avLst>
          </a:prstGeom>
          <a:solidFill>
            <a:srgbClr val="4FC3F7">
              <a:alpha val="1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677010" y="5029200"/>
            <a:ext cx="384048" cy="384048"/>
          </a:xfrm>
          <a:prstGeom prst="roundRect">
            <a:avLst>
              <a:gd name="adj" fmla="val 4762"/>
            </a:avLst>
          </a:prstGeom>
          <a:solidFill>
            <a:srgbClr val="4FC3F7">
              <a:alpha val="1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5547665"/>
            <a:ext cx="384048" cy="384048"/>
          </a:xfrm>
          <a:prstGeom prst="roundRect">
            <a:avLst>
              <a:gd name="adj" fmla="val 4762"/>
            </a:avLst>
          </a:prstGeom>
          <a:solidFill>
            <a:srgbClr val="4FC3F7">
              <a:alpha val="1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58545" y="5547665"/>
            <a:ext cx="384048" cy="384048"/>
          </a:xfrm>
          <a:prstGeom prst="roundRect">
            <a:avLst>
              <a:gd name="adj" fmla="val 4762"/>
            </a:avLst>
          </a:prstGeom>
          <a:solidFill>
            <a:srgbClr val="4FC3F7">
              <a:alpha val="1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677010" y="5547665"/>
            <a:ext cx="384048" cy="384048"/>
          </a:xfrm>
          <a:prstGeom prst="roundRect">
            <a:avLst>
              <a:gd name="adj" fmla="val 4762"/>
            </a:avLst>
          </a:prstGeom>
          <a:solidFill>
            <a:srgbClr val="4FC3F7">
              <a:alpha val="1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6066130"/>
            <a:ext cx="384048" cy="384048"/>
          </a:xfrm>
          <a:prstGeom prst="roundRect">
            <a:avLst>
              <a:gd name="adj" fmla="val 4762"/>
            </a:avLst>
          </a:prstGeom>
          <a:solidFill>
            <a:srgbClr val="4FC3F7">
              <a:alpha val="1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8545" y="6066130"/>
            <a:ext cx="384048" cy="384048"/>
          </a:xfrm>
          <a:prstGeom prst="roundRect">
            <a:avLst>
              <a:gd name="adj" fmla="val 4762"/>
            </a:avLst>
          </a:prstGeom>
          <a:solidFill>
            <a:srgbClr val="4FC3F7">
              <a:alpha val="1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677010" y="6066130"/>
            <a:ext cx="384048" cy="384048"/>
          </a:xfrm>
          <a:prstGeom prst="roundRect">
            <a:avLst>
              <a:gd name="adj" fmla="val 4762"/>
            </a:avLst>
          </a:prstGeom>
          <a:solidFill>
            <a:srgbClr val="4FC3F7">
              <a:alpha val="15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834640" y="1737360"/>
            <a:ext cx="8686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quel domaine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n'y a-t-il PAS de code ?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n'y en a aucun.</a:t>
            </a:r>
            <a:endParaRPr lang="en-US" sz="3800" dirty="0"/>
          </a:p>
        </p:txBody>
      </p:sp>
      <p:sp>
        <p:nvSpPr>
          <p:cNvPr id="22" name="Text 20"/>
          <p:cNvSpPr txBox="1"/>
          <p:nvPr/>
        </p:nvSpPr>
        <p:spPr>
          <a:xfrm>
            <a:off x="2834640" y="452628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apprenez ici servira dans le métier que vous choisirez — quel qu'il soit.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34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869680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635033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400386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869680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635033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400386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869680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635033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400386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2057400"/>
            <a:ext cx="1051560" cy="1051560"/>
          </a:xfrm>
          <a:prstGeom prst="ellipse">
            <a:avLst/>
          </a:prstGeom>
          <a:solidFill>
            <a:srgbClr val="6B2D8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20574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23" name="Text 21"/>
          <p:cNvSpPr txBox="1"/>
          <p:nvPr/>
        </p:nvSpPr>
        <p:spPr>
          <a:xfrm>
            <a:off x="2103120" y="210312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CEUX QUI L'ONT FAIT</a:t>
            </a:r>
            <a:endParaRPr lang="en-US" sz="4000" dirty="0"/>
          </a:p>
        </p:txBody>
      </p:sp>
      <p:sp>
        <p:nvSpPr>
          <p:cNvPr id="24" name="Text 22"/>
          <p:cNvSpPr txBox="1"/>
          <p:nvPr/>
        </p:nvSpPr>
        <p:spPr>
          <a:xfrm>
            <a:off x="2103120" y="3200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Certains avaient votre âge.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34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CEUX QUI L'ONT FAIT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1234440"/>
            <a:ext cx="3200400" cy="4160520"/>
          </a:xfrm>
          <a:prstGeom prst="roundRect">
            <a:avLst>
              <a:gd name="adj" fmla="val 2286"/>
            </a:avLst>
          </a:prstGeom>
          <a:solidFill>
            <a:srgbClr val="12122A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0080" y="16002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26974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</a:t>
            </a:r>
            <a:endParaRPr lang="en-US" sz="24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Zuckerberg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3657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États-Unis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1371600"/>
            <a:ext cx="7223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a écrit Facebook dans sa chambre d'étudiant.</a:t>
            </a:r>
            <a:endParaRPr lang="en-US" sz="310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2697480"/>
            <a:ext cx="7223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Facebook, Instagram, WhatsApp : un seul homme a lancé tout ça. La première version, il l'a codée à 19 ans, dans sa chambre, à l'université.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297680" y="480060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136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voilà ce qu'on ne vous dit pas : il a commencé à coder vers 12 ans.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35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CEUX QUI L'ONT FAIT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1234440"/>
            <a:ext cx="3200400" cy="4160520"/>
          </a:xfrm>
          <a:prstGeom prst="roundRect">
            <a:avLst>
              <a:gd name="adj" fmla="val 2286"/>
            </a:avLst>
          </a:prstGeom>
          <a:solidFill>
            <a:srgbClr val="12122A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0080" y="16002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26974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Elon</a:t>
            </a:r>
            <a:endParaRPr lang="en-US" sz="24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Musk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3657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🇿🇦 🇺🇸 Afrique du Sud · États-Unis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143000" y="416052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A65D0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143000" y="41605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12 ans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4297680" y="1371600"/>
            <a:ext cx="7223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12 ans, il a vendu son premier jeu vidéo.</a:t>
            </a:r>
            <a:endParaRPr lang="en-US" sz="3100" dirty="0"/>
          </a:p>
        </p:txBody>
      </p:sp>
      <p:sp>
        <p:nvSpPr>
          <p:cNvPr id="20" name="Text 18"/>
          <p:cNvSpPr txBox="1"/>
          <p:nvPr/>
        </p:nvSpPr>
        <p:spPr>
          <a:xfrm>
            <a:off x="4297680" y="2697480"/>
            <a:ext cx="7223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fusées qui reviennent se poser toutes seules, les voitures électriques : ce sont ses entreprises. Mais avant tout ça, il était un enfant avec un petit ordinateur.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297680" y="480060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a codé un jeu, « Blastar », et un magazine d'informatique le lui a acheté. Douze ans.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36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052560" y="1280160"/>
            <a:ext cx="502920" cy="502920"/>
          </a:xfrm>
          <a:prstGeom prst="roundRect">
            <a:avLst>
              <a:gd name="adj" fmla="val 363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731502" y="1280160"/>
            <a:ext cx="502920" cy="502920"/>
          </a:xfrm>
          <a:prstGeom prst="roundRect">
            <a:avLst>
              <a:gd name="adj" fmla="val 363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410444" y="1280160"/>
            <a:ext cx="502920" cy="502920"/>
          </a:xfrm>
          <a:prstGeom prst="roundRect">
            <a:avLst>
              <a:gd name="adj" fmla="val 363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052560" y="1959102"/>
            <a:ext cx="502920" cy="502920"/>
          </a:xfrm>
          <a:prstGeom prst="roundRect">
            <a:avLst>
              <a:gd name="adj" fmla="val 363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731502" y="1959102"/>
            <a:ext cx="502920" cy="502920"/>
          </a:xfrm>
          <a:prstGeom prst="roundRect">
            <a:avLst>
              <a:gd name="adj" fmla="val 363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410444" y="1959102"/>
            <a:ext cx="502920" cy="502920"/>
          </a:xfrm>
          <a:prstGeom prst="roundRect">
            <a:avLst>
              <a:gd name="adj" fmla="val 363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052560" y="2638044"/>
            <a:ext cx="502920" cy="502920"/>
          </a:xfrm>
          <a:prstGeom prst="roundRect">
            <a:avLst>
              <a:gd name="adj" fmla="val 363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731502" y="2638044"/>
            <a:ext cx="502920" cy="502920"/>
          </a:xfrm>
          <a:prstGeom prst="roundRect">
            <a:avLst>
              <a:gd name="adj" fmla="val 363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410444" y="2638044"/>
            <a:ext cx="502920" cy="502920"/>
          </a:xfrm>
          <a:prstGeom prst="roundRect">
            <a:avLst>
              <a:gd name="adj" fmla="val 363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spc="2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MAINTENANT,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269748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JEUNES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N'ONT PAS ATTENDU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D'ÊTRE GRANDS.</a:t>
            </a:r>
            <a:endParaRPr lang="en-US" sz="4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37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CEUX QUI L'ONT FAIT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1234440"/>
            <a:ext cx="3200400" cy="4160520"/>
          </a:xfrm>
          <a:prstGeom prst="roundRect">
            <a:avLst>
              <a:gd name="adj" fmla="val 2286"/>
            </a:avLst>
          </a:prstGeom>
          <a:solidFill>
            <a:srgbClr val="12122A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0080" y="16002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26974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</a:t>
            </a:r>
            <a:endParaRPr lang="en-US" sz="24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Suarez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3657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États-Unis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143000" y="416052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0C5C2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143000" y="41605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12 ans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4297680" y="1371600"/>
            <a:ext cx="7223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12 ans, il fabriquait des applications dans sa chambre.</a:t>
            </a:r>
            <a:endParaRPr lang="en-US" sz="3100" dirty="0"/>
          </a:p>
        </p:txBody>
      </p:sp>
      <p:sp>
        <p:nvSpPr>
          <p:cNvPr id="20" name="Text 18"/>
          <p:cNvSpPr txBox="1"/>
          <p:nvPr/>
        </p:nvSpPr>
        <p:spPr>
          <a:xfrm>
            <a:off x="4297680" y="2697480"/>
            <a:ext cx="7223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petit jeu, puis un autre. Et un jour, on l'a invité à monter sur une grande scène pour expliquer à des adultes comment il faisait.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297680" y="480060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vidéo a été vue des millions de fois. Il avait 12 ans.</a:t>
            </a:r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38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CEUX QUI L'ONT FAIT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1234440"/>
            <a:ext cx="3200400" cy="4160520"/>
          </a:xfrm>
          <a:prstGeom prst="roundRect">
            <a:avLst>
              <a:gd name="adj" fmla="val 2286"/>
            </a:avLst>
          </a:prstGeom>
          <a:solidFill>
            <a:srgbClr val="12122A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0080" y="16002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26974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Nick</a:t>
            </a:r>
            <a:endParaRPr lang="en-US" sz="24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D'Aloisio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3657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🇬🇧 Royaume-Uni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143000" y="416052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13678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143000" y="41605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15 ans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4297680" y="1371600"/>
            <a:ext cx="7223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15 ans, il a codé une application qui résume les articles.</a:t>
            </a:r>
            <a:endParaRPr lang="en-US" sz="3100" dirty="0"/>
          </a:p>
        </p:txBody>
      </p:sp>
      <p:sp>
        <p:nvSpPr>
          <p:cNvPr id="20" name="Text 18"/>
          <p:cNvSpPr txBox="1"/>
          <p:nvPr/>
        </p:nvSpPr>
        <p:spPr>
          <a:xfrm>
            <a:off x="4297680" y="2697480"/>
            <a:ext cx="7223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en avait assez de lire de longs textes. Alors il a écrit un programme qui lit l'article à sa place et le résume en quelques lignes.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297680" y="480060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136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ans plus tard, à 17 ans, une très grande entreprise a racheté son application. Il était encore au lycée.</a:t>
            </a:r>
            <a:endParaRPr lang="en-US" sz="2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39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CEUX QUI L'ONT FAIT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1234440"/>
            <a:ext cx="3200400" cy="4160520"/>
          </a:xfrm>
          <a:prstGeom prst="roundRect">
            <a:avLst>
              <a:gd name="adj" fmla="val 2286"/>
            </a:avLst>
          </a:prstGeom>
          <a:solidFill>
            <a:srgbClr val="12122A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0080" y="16002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26974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Gitanjali</a:t>
            </a:r>
            <a:endParaRPr lang="en-US" sz="24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Rao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3657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États-Unis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143000" y="416052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6B2D8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143000" y="41605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11 ans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4297680" y="1371600"/>
            <a:ext cx="7223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11 ans, elle a inventé un appareil qui détecte le poison dans l'eau.</a:t>
            </a:r>
            <a:endParaRPr lang="en-US" sz="3100" dirty="0"/>
          </a:p>
        </p:txBody>
      </p:sp>
      <p:sp>
        <p:nvSpPr>
          <p:cNvPr id="20" name="Text 18"/>
          <p:cNvSpPr txBox="1"/>
          <p:nvPr/>
        </p:nvSpPr>
        <p:spPr>
          <a:xfrm>
            <a:off x="4297680" y="2697480"/>
            <a:ext cx="7223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avait entendu parler d'une ville où l'eau du robinet était empoisonnée au plomb. Alors elle a fabriqué un détecteur. Puis une application qui repère les messages méchants sur internet avant qu'ils fassent mal.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297680" y="480060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15 ans, un grand magazine l'a nommée « enfant de l'année ». Le code sert à régler de vrais problèmes.</a:t>
            </a:r>
            <a:endParaRPr lang="en-US" sz="2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40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052560" y="1280160"/>
            <a:ext cx="502920" cy="502920"/>
          </a:xfrm>
          <a:prstGeom prst="roundRect">
            <a:avLst>
              <a:gd name="adj" fmla="val 3636"/>
            </a:avLst>
          </a:prstGeom>
          <a:solidFill>
            <a:srgbClr val="2FB765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731502" y="1280160"/>
            <a:ext cx="502920" cy="502920"/>
          </a:xfrm>
          <a:prstGeom prst="roundRect">
            <a:avLst>
              <a:gd name="adj" fmla="val 3636"/>
            </a:avLst>
          </a:prstGeom>
          <a:solidFill>
            <a:srgbClr val="2FB765">
              <a:alpha val="1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410444" y="1280160"/>
            <a:ext cx="502920" cy="502920"/>
          </a:xfrm>
          <a:prstGeom prst="roundRect">
            <a:avLst>
              <a:gd name="adj" fmla="val 3636"/>
            </a:avLst>
          </a:prstGeom>
          <a:solidFill>
            <a:srgbClr val="2FB765">
              <a:alpha val="1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052560" y="1959102"/>
            <a:ext cx="502920" cy="502920"/>
          </a:xfrm>
          <a:prstGeom prst="roundRect">
            <a:avLst>
              <a:gd name="adj" fmla="val 3636"/>
            </a:avLst>
          </a:prstGeom>
          <a:solidFill>
            <a:srgbClr val="2FB765">
              <a:alpha val="1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731502" y="1959102"/>
            <a:ext cx="502920" cy="502920"/>
          </a:xfrm>
          <a:prstGeom prst="roundRect">
            <a:avLst>
              <a:gd name="adj" fmla="val 3636"/>
            </a:avLst>
          </a:prstGeom>
          <a:solidFill>
            <a:srgbClr val="2FB765">
              <a:alpha val="1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410444" y="1959102"/>
            <a:ext cx="502920" cy="502920"/>
          </a:xfrm>
          <a:prstGeom prst="roundRect">
            <a:avLst>
              <a:gd name="adj" fmla="val 3636"/>
            </a:avLst>
          </a:prstGeom>
          <a:solidFill>
            <a:srgbClr val="2FB765">
              <a:alpha val="1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052560" y="2638044"/>
            <a:ext cx="502920" cy="502920"/>
          </a:xfrm>
          <a:prstGeom prst="roundRect">
            <a:avLst>
              <a:gd name="adj" fmla="val 3636"/>
            </a:avLst>
          </a:prstGeom>
          <a:solidFill>
            <a:srgbClr val="2FB765">
              <a:alpha val="1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731502" y="2638044"/>
            <a:ext cx="502920" cy="502920"/>
          </a:xfrm>
          <a:prstGeom prst="roundRect">
            <a:avLst>
              <a:gd name="adj" fmla="val 3636"/>
            </a:avLst>
          </a:prstGeom>
          <a:solidFill>
            <a:srgbClr val="2FB765">
              <a:alpha val="1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410444" y="2638044"/>
            <a:ext cx="502920" cy="502920"/>
          </a:xfrm>
          <a:prstGeom prst="roundRect">
            <a:avLst>
              <a:gd name="adj" fmla="val 3636"/>
            </a:avLst>
          </a:prstGeom>
          <a:solidFill>
            <a:srgbClr val="2FB765">
              <a:alpha val="15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23774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spc="200" kern="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PRÈS DE CHEZ NOUS ?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017520"/>
            <a:ext cx="8686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HISTOIRES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CHEZ NOUS.</a:t>
            </a:r>
            <a:endParaRPr lang="en-US" sz="4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40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CEUX QUI L'ONT FAIT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1234440"/>
            <a:ext cx="3200400" cy="4160520"/>
          </a:xfrm>
          <a:prstGeom prst="roundRect">
            <a:avLst>
              <a:gd name="adj" fmla="val 2286"/>
            </a:avLst>
          </a:prstGeom>
          <a:solidFill>
            <a:srgbClr val="12122A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0080" y="16002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👩🏾‍💻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26974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Charlette</a:t>
            </a:r>
            <a:endParaRPr lang="en-US" sz="24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N'Guessan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3657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🇨🇮 Côte d'Ivoire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1371600"/>
            <a:ext cx="7223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a créé un logiciel qui reconnaît les visages.</a:t>
            </a:r>
            <a:endParaRPr lang="en-US" sz="310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2697480"/>
            <a:ext cx="7223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est ivoirienne. Avec son équipe, elle a écrit un programme qui vérifie l'identité d'une personne à distance, en regardant son visage — pour que les banques africaines ne se fassent plus voler des identités.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297680" y="480060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2020, elle a gagné un grand prix africain d'ingénierie. La première femme à le remporter.</a:t>
            </a:r>
            <a:endParaRPr lang="en-US" sz="2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41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CEUX QUI L'ONT FAIT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1234440"/>
            <a:ext cx="3200400" cy="4160520"/>
          </a:xfrm>
          <a:prstGeom prst="roundRect">
            <a:avLst>
              <a:gd name="adj" fmla="val 2286"/>
            </a:avLst>
          </a:prstGeom>
          <a:solidFill>
            <a:srgbClr val="12122A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0080" y="16002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📻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26974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Kelvin</a:t>
            </a:r>
            <a:endParaRPr lang="en-US" sz="24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3657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🇸🇱 Sierra Leone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143000" y="416052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0C5C2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143000" y="41605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13 ans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4297680" y="1371600"/>
            <a:ext cx="7223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13 ans, il a construit sa radio avec des déchets.</a:t>
            </a:r>
            <a:endParaRPr lang="en-US" sz="3100" dirty="0"/>
          </a:p>
        </p:txBody>
      </p:sp>
      <p:sp>
        <p:nvSpPr>
          <p:cNvPr id="20" name="Text 18"/>
          <p:cNvSpPr txBox="1"/>
          <p:nvPr/>
        </p:nvSpPr>
        <p:spPr>
          <a:xfrm>
            <a:off x="4297680" y="2697480"/>
            <a:ext cx="7223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Chez lui, il n'y avait pas d'électricité tous les jours. Alors, avec des morceaux ramassés dans les poubelles, il a fabriqué une batterie pour éclairer sa maison. Puis son propre émetteur radio, pour créer une station dans son quartier.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297680" y="480060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grande université américaine l'a fait venir chez elle pour qu'il montre comment il faisait.</a:t>
            </a:r>
            <a:endParaRPr lang="en-US" sz="2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41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10515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REGARDEZ BIEN LEURS ÂGES.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169164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063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4015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169164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8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3063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Nick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34015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169164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8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3063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Gitanjali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34015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006840" y="169164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800" dirty="0"/>
          </a:p>
        </p:txBody>
      </p:sp>
      <p:sp>
        <p:nvSpPr>
          <p:cNvPr id="23" name="Text 21"/>
          <p:cNvSpPr txBox="1"/>
          <p:nvPr/>
        </p:nvSpPr>
        <p:spPr>
          <a:xfrm>
            <a:off x="9006840" y="3063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Kelvin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9006840" y="34015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41148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d'eux n'était un génie. Aucun n'avait de matériel extraordinaire.</a:t>
            </a:r>
            <a:endParaRPr lang="en-US" sz="22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d'eux n'a commencé en sachant coder.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16636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 ont tous commencé exactement là où vous êtes assis aujourd'hui.</a:t>
            </a:r>
            <a:endParaRPr lang="en-US" sz="2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seule différence : ils ont commencé.</a:t>
            </a:r>
            <a:endParaRPr 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42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CEUX QUI L'ONT FAIT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tout ça s'écrit dans un langage.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640080" y="2286000"/>
            <a:ext cx="51206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0080" y="25603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4290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36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1605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langage que vous allez apprendre</a:t>
            </a:r>
            <a:endParaRPr lang="en-US" sz="17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 même.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25146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Guido van Rossum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3154680"/>
            <a:ext cx="5212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lui qui a créé Python.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voulait un langage simple, lisible,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qu'un débutant puisse comprendre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être ingénieur.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48463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exactement pour ça qu'on l'a choisi pour vous.</a:t>
            </a:r>
            <a:endParaRPr lang="en-US" sz="1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42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869680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635033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400386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869680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635033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400386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869680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635033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400386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2057400"/>
            <a:ext cx="1051560" cy="1051560"/>
          </a:xfrm>
          <a:prstGeom prst="ellipse">
            <a:avLst/>
          </a:prstGeom>
          <a:solidFill>
            <a:srgbClr val="6B2D8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20574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23" name="Text 21"/>
          <p:cNvSpPr txBox="1"/>
          <p:nvPr/>
        </p:nvSpPr>
        <p:spPr>
          <a:xfrm>
            <a:off x="2103120" y="210312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LA MACHINE COMPREND</a:t>
            </a:r>
            <a:endParaRPr lang="en-US" sz="4000" dirty="0"/>
          </a:p>
        </p:txBody>
      </p:sp>
      <p:sp>
        <p:nvSpPr>
          <p:cNvPr id="24" name="Text 22"/>
          <p:cNvSpPr txBox="1"/>
          <p:nvPr/>
        </p:nvSpPr>
        <p:spPr>
          <a:xfrm>
            <a:off x="2103120" y="3200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courant électrique… jusqu'à vos mots.</a:t>
            </a:r>
            <a:endParaRPr lang="en-US" sz="1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43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COMMENT LA MACHINE COMPREND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740"/>
              </a:lnSpc>
              <a:buNone/>
            </a:pPr>
            <a:r>
              <a:rPr lang="en-US" sz="34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machine ne connaît que deux états.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640080" y="192024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E4E4EE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4400" y="210312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200" dirty="0"/>
          </a:p>
        </p:txBody>
      </p:sp>
      <p:sp>
        <p:nvSpPr>
          <p:cNvPr id="16" name="Text 14"/>
          <p:cNvSpPr txBox="1"/>
          <p:nvPr/>
        </p:nvSpPr>
        <p:spPr>
          <a:xfrm>
            <a:off x="2194560" y="23317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2194560" y="2880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courant ne passe pas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17920" y="192024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13678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492240" y="210312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2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23317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DEBOUT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2880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4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courant passe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977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Alors on va écrire une lettre. La lettre A, pour une machine, c'est :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3063240" y="4526280"/>
            <a:ext cx="658368" cy="868680"/>
          </a:xfrm>
          <a:prstGeom prst="roundRect">
            <a:avLst>
              <a:gd name="adj" fmla="val 11111"/>
            </a:avLst>
          </a:prstGeom>
          <a:solidFill>
            <a:srgbClr val="E4E4E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063240" y="4526280"/>
            <a:ext cx="6583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25" name="Shape 23"/>
          <p:cNvSpPr/>
          <p:nvPr/>
        </p:nvSpPr>
        <p:spPr>
          <a:xfrm>
            <a:off x="3840480" y="4526280"/>
            <a:ext cx="658368" cy="868680"/>
          </a:xfrm>
          <a:prstGeom prst="roundRect">
            <a:avLst>
              <a:gd name="adj" fmla="val 11111"/>
            </a:avLst>
          </a:prstGeom>
          <a:solidFill>
            <a:srgbClr val="13678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840480" y="4526280"/>
            <a:ext cx="6583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27" name="Shape 25"/>
          <p:cNvSpPr/>
          <p:nvPr/>
        </p:nvSpPr>
        <p:spPr>
          <a:xfrm>
            <a:off x="4617720" y="4526280"/>
            <a:ext cx="658368" cy="868680"/>
          </a:xfrm>
          <a:prstGeom prst="roundRect">
            <a:avLst>
              <a:gd name="adj" fmla="val 11111"/>
            </a:avLst>
          </a:prstGeom>
          <a:solidFill>
            <a:srgbClr val="E4E4E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617720" y="4526280"/>
            <a:ext cx="6583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5394960" y="4526280"/>
            <a:ext cx="658368" cy="868680"/>
          </a:xfrm>
          <a:prstGeom prst="roundRect">
            <a:avLst>
              <a:gd name="adj" fmla="val 11111"/>
            </a:avLst>
          </a:prstGeom>
          <a:solidFill>
            <a:srgbClr val="E4E4E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394960" y="4526280"/>
            <a:ext cx="6583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31" name="Shape 29"/>
          <p:cNvSpPr/>
          <p:nvPr/>
        </p:nvSpPr>
        <p:spPr>
          <a:xfrm>
            <a:off x="6172200" y="4526280"/>
            <a:ext cx="658368" cy="868680"/>
          </a:xfrm>
          <a:prstGeom prst="roundRect">
            <a:avLst>
              <a:gd name="adj" fmla="val 11111"/>
            </a:avLst>
          </a:prstGeom>
          <a:solidFill>
            <a:srgbClr val="E4E4E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172200" y="4526280"/>
            <a:ext cx="6583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33" name="Shape 31"/>
          <p:cNvSpPr/>
          <p:nvPr/>
        </p:nvSpPr>
        <p:spPr>
          <a:xfrm>
            <a:off x="6949440" y="4526280"/>
            <a:ext cx="658368" cy="868680"/>
          </a:xfrm>
          <a:prstGeom prst="roundRect">
            <a:avLst>
              <a:gd name="adj" fmla="val 11111"/>
            </a:avLst>
          </a:prstGeom>
          <a:solidFill>
            <a:srgbClr val="E4E4E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949440" y="4526280"/>
            <a:ext cx="6583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35" name="Shape 33"/>
          <p:cNvSpPr/>
          <p:nvPr/>
        </p:nvSpPr>
        <p:spPr>
          <a:xfrm>
            <a:off x="7726680" y="4526280"/>
            <a:ext cx="658368" cy="868680"/>
          </a:xfrm>
          <a:prstGeom prst="roundRect">
            <a:avLst>
              <a:gd name="adj" fmla="val 11111"/>
            </a:avLst>
          </a:prstGeom>
          <a:solidFill>
            <a:srgbClr val="E4E4E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726680" y="4526280"/>
            <a:ext cx="6583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37" name="Shape 35"/>
          <p:cNvSpPr/>
          <p:nvPr/>
        </p:nvSpPr>
        <p:spPr>
          <a:xfrm>
            <a:off x="8503920" y="4526280"/>
            <a:ext cx="658368" cy="868680"/>
          </a:xfrm>
          <a:prstGeom prst="roundRect">
            <a:avLst>
              <a:gd name="adj" fmla="val 11111"/>
            </a:avLst>
          </a:prstGeom>
          <a:solidFill>
            <a:srgbClr val="13678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503920" y="4526280"/>
            <a:ext cx="6583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39" name="Text 37"/>
          <p:cNvSpPr txBox="1"/>
          <p:nvPr/>
        </p:nvSpPr>
        <p:spPr>
          <a:xfrm>
            <a:off x="9509760" y="45262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 A</a:t>
            </a:r>
            <a:endParaRPr lang="en-US" sz="38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élèves debout. Debout = 1, assis = 0. Pas de « peut-être ».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46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5029200"/>
            <a:ext cx="384048" cy="384048"/>
          </a:xfrm>
          <a:prstGeom prst="roundRect">
            <a:avLst>
              <a:gd name="adj" fmla="val 4762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58545" y="5029200"/>
            <a:ext cx="384048" cy="384048"/>
          </a:xfrm>
          <a:prstGeom prst="roundRect">
            <a:avLst>
              <a:gd name="adj" fmla="val 4762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677010" y="5029200"/>
            <a:ext cx="384048" cy="384048"/>
          </a:xfrm>
          <a:prstGeom prst="roundRect">
            <a:avLst>
              <a:gd name="adj" fmla="val 4762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5547665"/>
            <a:ext cx="384048" cy="384048"/>
          </a:xfrm>
          <a:prstGeom prst="roundRect">
            <a:avLst>
              <a:gd name="adj" fmla="val 4762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58545" y="5547665"/>
            <a:ext cx="384048" cy="384048"/>
          </a:xfrm>
          <a:prstGeom prst="roundRect">
            <a:avLst>
              <a:gd name="adj" fmla="val 4762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677010" y="5547665"/>
            <a:ext cx="384048" cy="384048"/>
          </a:xfrm>
          <a:prstGeom prst="roundRect">
            <a:avLst>
              <a:gd name="adj" fmla="val 4762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6066130"/>
            <a:ext cx="384048" cy="384048"/>
          </a:xfrm>
          <a:prstGeom prst="roundRect">
            <a:avLst>
              <a:gd name="adj" fmla="val 4762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8545" y="6066130"/>
            <a:ext cx="384048" cy="384048"/>
          </a:xfrm>
          <a:prstGeom prst="roundRect">
            <a:avLst>
              <a:gd name="adj" fmla="val 4762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677010" y="6066130"/>
            <a:ext cx="384048" cy="384048"/>
          </a:xfrm>
          <a:prstGeom prst="roundRect">
            <a:avLst>
              <a:gd name="adj" fmla="val 4762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834640" y="1737360"/>
            <a:ext cx="8686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imaginez écrire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jeu entier comme ça ?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ne veut faire ça.</a:t>
            </a:r>
            <a:endParaRPr lang="en-US" sz="3800" dirty="0"/>
          </a:p>
        </p:txBody>
      </p:sp>
      <p:sp>
        <p:nvSpPr>
          <p:cNvPr id="22" name="Text 20"/>
          <p:cNvSpPr txBox="1"/>
          <p:nvPr/>
        </p:nvSpPr>
        <p:spPr>
          <a:xfrm>
            <a:off x="2834640" y="452628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Alors on a inventé des langages pour parler à la machine avec des mots.</a:t>
            </a:r>
            <a:endParaRPr lang="en-US" sz="1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46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COMMENT LA MACHINE COMPREND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740"/>
              </a:lnSpc>
              <a:buNone/>
            </a:pPr>
            <a:r>
              <a:rPr lang="en-US" sz="34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se passe quand j'appuie sur F5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640080" y="2148840"/>
            <a:ext cx="197510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13232" y="2377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29718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j'écris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Thonny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633472" y="2907792"/>
            <a:ext cx="192024" cy="320040"/>
          </a:xfrm>
          <a:prstGeom prst="rightArrow">
            <a:avLst/>
          </a:prstGeom>
          <a:solidFill>
            <a:srgbClr val="A8A8C0"/>
          </a:solidFill>
          <a:ln/>
        </p:spPr>
      </p:sp>
      <p:sp>
        <p:nvSpPr>
          <p:cNvPr id="18" name="Shape 16"/>
          <p:cNvSpPr/>
          <p:nvPr/>
        </p:nvSpPr>
        <p:spPr>
          <a:xfrm>
            <a:off x="2843784" y="2148840"/>
            <a:ext cx="197510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2916936" y="2377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6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2916936" y="29718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print("Bonjour")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 mots !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37176" y="2907792"/>
            <a:ext cx="192024" cy="320040"/>
          </a:xfrm>
          <a:prstGeom prst="rightArrow">
            <a:avLst/>
          </a:prstGeom>
          <a:solidFill>
            <a:srgbClr val="A8A8C0"/>
          </a:solidFill>
          <a:ln/>
        </p:spPr>
      </p:sp>
      <p:sp>
        <p:nvSpPr>
          <p:cNvPr id="22" name="Shape 20"/>
          <p:cNvSpPr/>
          <p:nvPr/>
        </p:nvSpPr>
        <p:spPr>
          <a:xfrm>
            <a:off x="5047488" y="2148840"/>
            <a:ext cx="197510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5120640" y="2377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L'INTERPRÈTE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120640" y="29718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traduit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 traducteur)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040880" y="2907792"/>
            <a:ext cx="192024" cy="320040"/>
          </a:xfrm>
          <a:prstGeom prst="rightArrow">
            <a:avLst/>
          </a:prstGeom>
          <a:solidFill>
            <a:srgbClr val="A8A8C0"/>
          </a:solidFill>
          <a:ln/>
        </p:spPr>
      </p:sp>
      <p:sp>
        <p:nvSpPr>
          <p:cNvPr id="26" name="Shape 24"/>
          <p:cNvSpPr/>
          <p:nvPr/>
        </p:nvSpPr>
        <p:spPr>
          <a:xfrm>
            <a:off x="7251192" y="2148840"/>
            <a:ext cx="197510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7324344" y="2377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et 1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324344" y="29718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01110000…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244584" y="2907792"/>
            <a:ext cx="192024" cy="320040"/>
          </a:xfrm>
          <a:prstGeom prst="rightArrow">
            <a:avLst/>
          </a:prstGeom>
          <a:solidFill>
            <a:srgbClr val="A8A8C0"/>
          </a:solidFill>
          <a:ln/>
        </p:spPr>
      </p:sp>
      <p:sp>
        <p:nvSpPr>
          <p:cNvPr id="30" name="Shape 28"/>
          <p:cNvSpPr/>
          <p:nvPr/>
        </p:nvSpPr>
        <p:spPr>
          <a:xfrm>
            <a:off x="9454896" y="2148840"/>
            <a:ext cx="197510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9528048" y="2377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MACHINE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528048" y="29718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obéit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affiche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4343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mots à retenir</a:t>
            </a:r>
            <a:endParaRPr lang="en-US" sz="24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48920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6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3017520" y="48920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LANGUE dans laquelle j'écris mes ordres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3675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L'INTERPRÈTE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3017520" y="53675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TRADUCTEUR : il transforme mes mots en 0 et 1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584301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THONNY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3017520" y="584301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l'ÉDITEUR : ma feuille, avec un bouton « vas-y »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48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5029200"/>
            <a:ext cx="384048" cy="384048"/>
          </a:xfrm>
          <a:prstGeom prst="roundRect">
            <a:avLst>
              <a:gd name="adj" fmla="val 4762"/>
            </a:avLst>
          </a:prstGeom>
          <a:solidFill>
            <a:srgbClr val="4FC3F7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58545" y="5029200"/>
            <a:ext cx="384048" cy="384048"/>
          </a:xfrm>
          <a:prstGeom prst="roundRect">
            <a:avLst>
              <a:gd name="adj" fmla="val 4762"/>
            </a:avLst>
          </a:prstGeom>
          <a:solidFill>
            <a:srgbClr val="4FC3F7">
              <a:alpha val="1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677010" y="5029200"/>
            <a:ext cx="384048" cy="384048"/>
          </a:xfrm>
          <a:prstGeom prst="roundRect">
            <a:avLst>
              <a:gd name="adj" fmla="val 4762"/>
            </a:avLst>
          </a:prstGeom>
          <a:solidFill>
            <a:srgbClr val="4FC3F7">
              <a:alpha val="1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5547665"/>
            <a:ext cx="384048" cy="384048"/>
          </a:xfrm>
          <a:prstGeom prst="roundRect">
            <a:avLst>
              <a:gd name="adj" fmla="val 4762"/>
            </a:avLst>
          </a:prstGeom>
          <a:solidFill>
            <a:srgbClr val="4FC3F7">
              <a:alpha val="1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58545" y="5547665"/>
            <a:ext cx="384048" cy="384048"/>
          </a:xfrm>
          <a:prstGeom prst="roundRect">
            <a:avLst>
              <a:gd name="adj" fmla="val 4762"/>
            </a:avLst>
          </a:prstGeom>
          <a:solidFill>
            <a:srgbClr val="4FC3F7">
              <a:alpha val="1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677010" y="5547665"/>
            <a:ext cx="384048" cy="384048"/>
          </a:xfrm>
          <a:prstGeom prst="roundRect">
            <a:avLst>
              <a:gd name="adj" fmla="val 4762"/>
            </a:avLst>
          </a:prstGeom>
          <a:solidFill>
            <a:srgbClr val="4FC3F7">
              <a:alpha val="1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6066130"/>
            <a:ext cx="384048" cy="384048"/>
          </a:xfrm>
          <a:prstGeom prst="roundRect">
            <a:avLst>
              <a:gd name="adj" fmla="val 4762"/>
            </a:avLst>
          </a:prstGeom>
          <a:solidFill>
            <a:srgbClr val="4FC3F7">
              <a:alpha val="1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8545" y="6066130"/>
            <a:ext cx="384048" cy="384048"/>
          </a:xfrm>
          <a:prstGeom prst="roundRect">
            <a:avLst>
              <a:gd name="adj" fmla="val 4762"/>
            </a:avLst>
          </a:prstGeom>
          <a:solidFill>
            <a:srgbClr val="4FC3F7">
              <a:alpha val="1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677010" y="6066130"/>
            <a:ext cx="384048" cy="384048"/>
          </a:xfrm>
          <a:prstGeom prst="roundRect">
            <a:avLst>
              <a:gd name="adj" fmla="val 4762"/>
            </a:avLst>
          </a:prstGeom>
          <a:solidFill>
            <a:srgbClr val="4FC3F7">
              <a:alpha val="15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834640" y="1737360"/>
            <a:ext cx="8686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L'ordinateur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n'est pas intelligent.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est OBÉISSANT.</a:t>
            </a:r>
            <a:endParaRPr lang="en-US" sz="3800" dirty="0"/>
          </a:p>
        </p:txBody>
      </p:sp>
      <p:sp>
        <p:nvSpPr>
          <p:cNvPr id="22" name="Text 20"/>
          <p:cNvSpPr txBox="1"/>
          <p:nvPr/>
        </p:nvSpPr>
        <p:spPr>
          <a:xfrm>
            <a:off x="2834640" y="452628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fait exactement ce qui est écrit. Ni plus, ni moins. S'il fait une bêtise, ce n'est pas lui qui s'est trompé.</a:t>
            </a:r>
            <a:endParaRPr lang="en-US" sz="1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49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869680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635033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400386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869680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635033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400386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869680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635033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400386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2057400"/>
            <a:ext cx="1051560" cy="1051560"/>
          </a:xfrm>
          <a:prstGeom prst="ellipse">
            <a:avLst/>
          </a:prstGeom>
          <a:solidFill>
            <a:srgbClr val="6B2D8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20574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400" dirty="0"/>
          </a:p>
        </p:txBody>
      </p:sp>
      <p:sp>
        <p:nvSpPr>
          <p:cNvPr id="23" name="Text 21"/>
          <p:cNvSpPr txBox="1"/>
          <p:nvPr/>
        </p:nvSpPr>
        <p:spPr>
          <a:xfrm>
            <a:off x="2103120" y="210312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L'ALGORITHME</a:t>
            </a:r>
            <a:endParaRPr lang="en-US" sz="4000" dirty="0"/>
          </a:p>
        </p:txBody>
      </p:sp>
      <p:sp>
        <p:nvSpPr>
          <p:cNvPr id="24" name="Text 22"/>
          <p:cNvSpPr txBox="1"/>
          <p:nvPr/>
        </p:nvSpPr>
        <p:spPr>
          <a:xfrm>
            <a:off x="2103120" y="3200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partie la plus difficile du métier. Et vous savez déjà le faire.</a:t>
            </a:r>
            <a:endParaRPr lang="en-US" sz="1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49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L'ALGORITHME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740"/>
              </a:lnSpc>
              <a:buNone/>
            </a:pPr>
            <a:r>
              <a:rPr lang="en-US" sz="34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Voici un robot. Il ne comprend que 3 ordres.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640080" y="201168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68680" y="23317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⬆️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2377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343400" y="201168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572000" y="23317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⬅️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5394960" y="2377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TOURNE À GAUCHE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046720" y="201168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275320" y="23317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➡️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9098280" y="2377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TOURNE À DROITE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657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n'a pas d'imagination. Il fait EXACTEMENT ce qu'on lui dit, ni plus, ni moins.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40080" y="429768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6B2D8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51560" y="45262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MISSION, TOUS ENSEMBLE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4937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L'amener jusqu'au tableau, et lui faire écrire un X.</a:t>
            </a:r>
            <a:endParaRPr lang="en-US" sz="2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52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5029200"/>
            <a:ext cx="384048" cy="384048"/>
          </a:xfrm>
          <a:prstGeom prst="roundRect">
            <a:avLst>
              <a:gd name="adj" fmla="val 4762"/>
            </a:avLst>
          </a:prstGeom>
          <a:solidFill>
            <a:srgbClr val="2FB765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58545" y="5029200"/>
            <a:ext cx="384048" cy="384048"/>
          </a:xfrm>
          <a:prstGeom prst="roundRect">
            <a:avLst>
              <a:gd name="adj" fmla="val 4762"/>
            </a:avLst>
          </a:prstGeom>
          <a:solidFill>
            <a:srgbClr val="2FB765">
              <a:alpha val="1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677010" y="5029200"/>
            <a:ext cx="384048" cy="384048"/>
          </a:xfrm>
          <a:prstGeom prst="roundRect">
            <a:avLst>
              <a:gd name="adj" fmla="val 4762"/>
            </a:avLst>
          </a:prstGeom>
          <a:solidFill>
            <a:srgbClr val="2FB765">
              <a:alpha val="1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5547665"/>
            <a:ext cx="384048" cy="384048"/>
          </a:xfrm>
          <a:prstGeom prst="roundRect">
            <a:avLst>
              <a:gd name="adj" fmla="val 4762"/>
            </a:avLst>
          </a:prstGeom>
          <a:solidFill>
            <a:srgbClr val="2FB765">
              <a:alpha val="1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58545" y="5547665"/>
            <a:ext cx="384048" cy="384048"/>
          </a:xfrm>
          <a:prstGeom prst="roundRect">
            <a:avLst>
              <a:gd name="adj" fmla="val 4762"/>
            </a:avLst>
          </a:prstGeom>
          <a:solidFill>
            <a:srgbClr val="2FB765">
              <a:alpha val="1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677010" y="5547665"/>
            <a:ext cx="384048" cy="384048"/>
          </a:xfrm>
          <a:prstGeom prst="roundRect">
            <a:avLst>
              <a:gd name="adj" fmla="val 4762"/>
            </a:avLst>
          </a:prstGeom>
          <a:solidFill>
            <a:srgbClr val="2FB765">
              <a:alpha val="1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6066130"/>
            <a:ext cx="384048" cy="384048"/>
          </a:xfrm>
          <a:prstGeom prst="roundRect">
            <a:avLst>
              <a:gd name="adj" fmla="val 4762"/>
            </a:avLst>
          </a:prstGeom>
          <a:solidFill>
            <a:srgbClr val="2FB765">
              <a:alpha val="1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8545" y="6066130"/>
            <a:ext cx="384048" cy="384048"/>
          </a:xfrm>
          <a:prstGeom prst="roundRect">
            <a:avLst>
              <a:gd name="adj" fmla="val 4762"/>
            </a:avLst>
          </a:prstGeom>
          <a:solidFill>
            <a:srgbClr val="2FB765">
              <a:alpha val="1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677010" y="6066130"/>
            <a:ext cx="384048" cy="384048"/>
          </a:xfrm>
          <a:prstGeom prst="roundRect">
            <a:avLst>
              <a:gd name="adj" fmla="val 4762"/>
            </a:avLst>
          </a:prstGeom>
          <a:solidFill>
            <a:srgbClr val="2FB765">
              <a:alpha val="15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834640" y="1737360"/>
            <a:ext cx="8686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venez d'écrire,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 s'appelle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ALGORITHME.</a:t>
            </a:r>
            <a:endParaRPr lang="en-US" sz="3800" dirty="0"/>
          </a:p>
        </p:txBody>
      </p:sp>
      <p:sp>
        <p:nvSpPr>
          <p:cNvPr id="22" name="Text 20"/>
          <p:cNvSpPr txBox="1"/>
          <p:nvPr/>
        </p:nvSpPr>
        <p:spPr>
          <a:xfrm>
            <a:off x="2834640" y="452628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suite d'ordres précis, donnés dans le bon ordre, pour arriver à un résultat.</a:t>
            </a:r>
            <a:endParaRPr lang="en-US" sz="1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53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L'ALGORITHME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en connaissez déjà plein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640080" y="192024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0080" y="214884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🍲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28803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recette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cuisine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6576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étapes, dans l'ordre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43400" y="192024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343400" y="214884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</a:t>
            </a:r>
            <a:endParaRPr lang="en-US" sz="3200" dirty="0"/>
          </a:p>
        </p:txBody>
      </p:sp>
      <p:sp>
        <p:nvSpPr>
          <p:cNvPr id="20" name="Text 18"/>
          <p:cNvSpPr txBox="1"/>
          <p:nvPr/>
        </p:nvSpPr>
        <p:spPr>
          <a:xfrm>
            <a:off x="4526280" y="28803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itinéraire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4526280" y="36576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tourne ici, puis tout droit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46720" y="192024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FF6D8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046720" y="214884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❌⭕</a:t>
            </a:r>
            <a:endParaRPr lang="en-US" sz="32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28803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règles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morpion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36576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c'est celui-là qu'on va écrire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452628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2122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51560" y="4709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: un algorithme, ce n'est pas encore du code.</a:t>
            </a:r>
            <a:endParaRPr lang="en-US" sz="2100" dirty="0"/>
          </a:p>
        </p:txBody>
      </p:sp>
      <p:sp>
        <p:nvSpPr>
          <p:cNvPr id="28" name="Text 26"/>
          <p:cNvSpPr txBox="1"/>
          <p:nvPr/>
        </p:nvSpPr>
        <p:spPr>
          <a:xfrm>
            <a:off x="1051560" y="513892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la réflexion AVANT le code. On peut l'écrire en français, sur du papier, sans ordinateur.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la partie la plus difficile du métier — et c'est celle que vous allez travailler dans un instant.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55 - 13 h 05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169164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8346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</a:t>
            </a:r>
            <a:endParaRPr lang="en-US" sz="6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886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minutes. Levez-vous, sortez, bougez.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480560" y="470916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FFB74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480560" y="47091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1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à 13 h 05</a:t>
            </a:r>
            <a:endParaRPr lang="en-US" sz="2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05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869680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635033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400386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869680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635033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400386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869680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635033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400386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2057400"/>
            <a:ext cx="1051560" cy="1051560"/>
          </a:xfrm>
          <a:prstGeom prst="ellipse">
            <a:avLst/>
          </a:prstGeom>
          <a:solidFill>
            <a:srgbClr val="6B2D8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20574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400" dirty="0"/>
          </a:p>
        </p:txBody>
      </p:sp>
      <p:sp>
        <p:nvSpPr>
          <p:cNvPr id="23" name="Text 21"/>
          <p:cNvSpPr txBox="1"/>
          <p:nvPr/>
        </p:nvSpPr>
        <p:spPr>
          <a:xfrm>
            <a:off x="2103120" y="210312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MISSIONS DE DÉCOLLAGE</a:t>
            </a:r>
            <a:endParaRPr lang="en-US" sz="4000" dirty="0"/>
          </a:p>
        </p:txBody>
      </p:sp>
      <p:sp>
        <p:nvSpPr>
          <p:cNvPr id="24" name="Text 22"/>
          <p:cNvSpPr txBox="1"/>
          <p:nvPr/>
        </p:nvSpPr>
        <p:spPr>
          <a:xfrm>
            <a:off x="2103120" y="3200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missions. Ce n'est pas noté. Personne ne peut échouer.</a:t>
            </a:r>
            <a:endParaRPr lang="en-US" sz="1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05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LES MISSIONS DE DÉCOLLAGE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740"/>
              </a:lnSpc>
              <a:buNone/>
            </a:pPr>
            <a:r>
              <a:rPr lang="en-US" sz="34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missions, huit minutes chacune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640080" y="1965960"/>
            <a:ext cx="342900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0080" y="219456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🕹️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9718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1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2918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38404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 ordinateurs.</a:t>
            </a:r>
            <a:endParaRPr lang="en-US" sz="14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manœuvres à réussir.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43400" y="1965960"/>
            <a:ext cx="342900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343400" y="219456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4343400" y="29718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2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343400" y="32918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38404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papier, sans machine.</a:t>
            </a:r>
            <a:endParaRPr lang="en-US" sz="14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énigmes.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046720" y="1965960"/>
            <a:ext cx="342900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046720" y="219456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3400" dirty="0"/>
          </a:p>
        </p:txBody>
      </p:sp>
      <p:sp>
        <p:nvSpPr>
          <p:cNvPr id="26" name="Text 24"/>
          <p:cNvSpPr txBox="1"/>
          <p:nvPr/>
        </p:nvSpPr>
        <p:spPr>
          <a:xfrm>
            <a:off x="8046720" y="29718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3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046720" y="32918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IDENTITÉ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8275320" y="38404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fiche de Geek.</a:t>
            </a:r>
            <a:endParaRPr lang="en-US" sz="14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qu'on te connaisse.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0080" y="489204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0C5C2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05840" y="489204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n'est pas noté. Il n'y a pas de bonne ou de mauvaise équipe. Tout le monde décolle.</a:t>
            </a:r>
            <a:endParaRPr lang="en-US" sz="2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30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052560" y="1371600"/>
            <a:ext cx="548640" cy="548640"/>
          </a:xfrm>
          <a:prstGeom prst="roundRect">
            <a:avLst>
              <a:gd name="adj" fmla="val 3333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793224" y="1371600"/>
            <a:ext cx="548640" cy="548640"/>
          </a:xfrm>
          <a:prstGeom prst="roundRect">
            <a:avLst>
              <a:gd name="adj" fmla="val 3333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533888" y="1371600"/>
            <a:ext cx="548640" cy="548640"/>
          </a:xfrm>
          <a:prstGeom prst="roundRect">
            <a:avLst>
              <a:gd name="adj" fmla="val 3333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052560" y="2112264"/>
            <a:ext cx="548640" cy="548640"/>
          </a:xfrm>
          <a:prstGeom prst="roundRect">
            <a:avLst>
              <a:gd name="adj" fmla="val 3333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793224" y="2112264"/>
            <a:ext cx="548640" cy="548640"/>
          </a:xfrm>
          <a:prstGeom prst="roundRect">
            <a:avLst>
              <a:gd name="adj" fmla="val 3333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533888" y="2112264"/>
            <a:ext cx="548640" cy="548640"/>
          </a:xfrm>
          <a:prstGeom prst="roundRect">
            <a:avLst>
              <a:gd name="adj" fmla="val 3333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052560" y="2852928"/>
            <a:ext cx="548640" cy="548640"/>
          </a:xfrm>
          <a:prstGeom prst="roundRect">
            <a:avLst>
              <a:gd name="adj" fmla="val 3333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793224" y="2852928"/>
            <a:ext cx="548640" cy="548640"/>
          </a:xfrm>
          <a:prstGeom prst="roundRect">
            <a:avLst>
              <a:gd name="adj" fmla="val 3333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533888" y="2852928"/>
            <a:ext cx="548640" cy="548640"/>
          </a:xfrm>
          <a:prstGeom prst="roundRect">
            <a:avLst>
              <a:gd name="adj" fmla="val 3333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2286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MAINTENANT…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288036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ALLUME</a:t>
            </a:r>
            <a:endParaRPr lang="en-US" sz="52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MACHINES.</a:t>
            </a:r>
            <a:endParaRPr lang="en-US" sz="5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30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PREMIER CONTACT MACHINE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Ici, on ne lève pas la main. On lève une carte.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640080" y="2011680"/>
            <a:ext cx="25146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1E9E4A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508760" y="2240280"/>
            <a:ext cx="777240" cy="777240"/>
          </a:xfrm>
          <a:prstGeom prst="ellipse">
            <a:avLst/>
          </a:prstGeom>
          <a:solidFill>
            <a:srgbClr val="1E9E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08760" y="2240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1546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9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36118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 avance,</a:t>
            </a:r>
            <a:endParaRPr lang="en-US" sz="14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va bien.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383280" y="2011680"/>
            <a:ext cx="25146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E8871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51960" y="2240280"/>
            <a:ext cx="777240" cy="77724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251960" y="2240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383280" y="31546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3566160" y="36118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est bloqués.</a:t>
            </a:r>
            <a:endParaRPr lang="en-US" sz="14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cherche quand même.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26480" y="2011680"/>
            <a:ext cx="25146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D7262B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95160" y="2240280"/>
            <a:ext cx="777240" cy="777240"/>
          </a:xfrm>
          <a:prstGeom prst="ellipse">
            <a:avLst/>
          </a:prstGeom>
          <a:solidFill>
            <a:srgbClr val="D7262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995160" y="2240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126480" y="31546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</a:t>
            </a:r>
            <a:endParaRPr lang="en-US" sz="2100" dirty="0"/>
          </a:p>
        </p:txBody>
      </p:sp>
      <p:sp>
        <p:nvSpPr>
          <p:cNvPr id="28" name="Text 26"/>
          <p:cNvSpPr txBox="1"/>
          <p:nvPr/>
        </p:nvSpPr>
        <p:spPr>
          <a:xfrm>
            <a:off x="6309360" y="36118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ne marche.</a:t>
            </a:r>
            <a:endParaRPr lang="en-US" sz="14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secours.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869680" y="2011680"/>
            <a:ext cx="25146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1F6FD0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738360" y="2240280"/>
            <a:ext cx="777240" cy="777240"/>
          </a:xfrm>
          <a:prstGeom prst="ellipse">
            <a:avLst/>
          </a:prstGeom>
          <a:solidFill>
            <a:srgbClr val="1F6FD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738360" y="2240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869680" y="31546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6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</a:t>
            </a:r>
            <a:endParaRPr lang="en-US" sz="2100" dirty="0"/>
          </a:p>
        </p:txBody>
      </p:sp>
      <p:sp>
        <p:nvSpPr>
          <p:cNvPr id="33" name="Text 31"/>
          <p:cNvSpPr txBox="1"/>
          <p:nvPr/>
        </p:nvSpPr>
        <p:spPr>
          <a:xfrm>
            <a:off x="9052560" y="36118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fini.</a:t>
            </a:r>
            <a:endParaRPr lang="en-US" sz="14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peut aider.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40080" y="470916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12122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05840" y="4709160"/>
            <a:ext cx="10241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promesse : une carte orange est servie en moins de 5 minutes. Une carte rouge, tout de suite.</a:t>
            </a:r>
            <a:endParaRPr lang="en-US" sz="2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32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PREMIER CONTACT MACHINE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Bloqué ? Trois choses avant de lever l'orange.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640080" y="2057400"/>
            <a:ext cx="822960" cy="822960"/>
          </a:xfrm>
          <a:prstGeom prst="ellipse">
            <a:avLst/>
          </a:prstGeom>
          <a:solidFill>
            <a:srgbClr val="6B2D8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2057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1737360" y="207568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RELIS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25146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consigne, puis le message rouge de l'ordinateur — À VOIX HAUTE.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 marche tout seul une fois sur trois.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3200400"/>
            <a:ext cx="822960" cy="822960"/>
          </a:xfrm>
          <a:prstGeom prst="ellipse">
            <a:avLst/>
          </a:prstGeom>
          <a:solidFill>
            <a:srgbClr val="6B2D8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3200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1737360" y="321868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DEMANDE À MON VOISIN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1737360" y="36576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on regarde ensemble la fiche mémo posée sur la table.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4343400"/>
            <a:ext cx="822960" cy="822960"/>
          </a:xfrm>
          <a:prstGeom prst="ellipse">
            <a:avLst/>
          </a:prstGeom>
          <a:solidFill>
            <a:srgbClr val="6B2D8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" y="4343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1737360" y="436168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DEMANDE AU BINÔME D'À CÔTÉ</a:t>
            </a:r>
            <a:endParaRPr lang="en-US" sz="2100" dirty="0"/>
          </a:p>
        </p:txBody>
      </p:sp>
      <p:sp>
        <p:nvSpPr>
          <p:cNvPr id="25" name="Text 23"/>
          <p:cNvSpPr txBox="1"/>
          <p:nvPr/>
        </p:nvSpPr>
        <p:spPr>
          <a:xfrm>
            <a:off x="1737360" y="48006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secondes, pas plus.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0080" y="5532120"/>
            <a:ext cx="5852160" cy="777240"/>
          </a:xfrm>
          <a:prstGeom prst="roundRect">
            <a:avLst>
              <a:gd name="adj" fmla="val 9412"/>
            </a:avLst>
          </a:prstGeom>
          <a:solidFill>
            <a:srgbClr val="E8871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0080" y="553212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 Toujours bloqués ? CARTE ORANGE.</a:t>
            </a:r>
            <a:endParaRPr lang="en-US" sz="1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33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PREMIER CONTACT MACHINE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première commande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640080" y="192024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2122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192024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FB7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print("Bonjour")</a:t>
            </a:r>
            <a:endParaRPr lang="en-US" sz="4000" dirty="0"/>
          </a:p>
        </p:txBody>
      </p:sp>
      <p:sp>
        <p:nvSpPr>
          <p:cNvPr id="16" name="Shape 14"/>
          <p:cNvSpPr/>
          <p:nvPr/>
        </p:nvSpPr>
        <p:spPr>
          <a:xfrm>
            <a:off x="640080" y="3611880"/>
            <a:ext cx="19202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1367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61188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67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2834640" y="361188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 — toujours tout en minuscules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0080" y="4270248"/>
            <a:ext cx="19202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A65D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427024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65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… )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2834640" y="427024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ouvre, on le ferme. Toujours.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40080" y="4928616"/>
            <a:ext cx="19202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6B2D8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4928616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2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… "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2834640" y="4928616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texte se met toujours entre DEUX guillemets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que j'appuie : qu'est-ce qui va se passer ? À trois. Un, deux, trois !</a:t>
            </a:r>
            <a:endParaRPr lang="en-US" sz="1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35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0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PREMIER CONTACT MACHINE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maintenant, je casse tout.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640080" y="1828800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12122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1828800"/>
            <a:ext cx="5303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print("Bonjour)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6400800" y="182880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FDECE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0" y="182880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1B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SyntaxError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063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= la grammaire.   Error = l'erreur.   Il nous dit : « je ne comprends pas ta phrase ».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0080" y="3703320"/>
            <a:ext cx="10881360" cy="2194560"/>
          </a:xfrm>
          <a:prstGeom prst="roundRect">
            <a:avLst>
              <a:gd name="adj" fmla="val 3333"/>
            </a:avLst>
          </a:prstGeom>
          <a:solidFill>
            <a:srgbClr val="12122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97280" y="3931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CETTE SALLE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42976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ROUGE N'EST PAS GRAVE.</a:t>
            </a:r>
            <a:endParaRPr lang="en-US" sz="3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ROUGE EST UNE INFORMATION.</a:t>
            </a:r>
            <a:endParaRPr lang="en-US" sz="32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5440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l'ordinateur qui vous explique ce qu'il n'a pas compris. Il essaie de vous aider.</a:t>
            </a:r>
            <a:endParaRPr lang="en-US" sz="1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38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PREMIER CONTACT MACHINE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vous. Votre mission :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640080" y="1828800"/>
            <a:ext cx="6035040" cy="3200400"/>
          </a:xfrm>
          <a:prstGeom prst="roundRect">
            <a:avLst>
              <a:gd name="adj" fmla="val 2286"/>
            </a:avLst>
          </a:prstGeom>
          <a:solidFill>
            <a:srgbClr val="12122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2057400"/>
            <a:ext cx="5486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FB7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FB7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BIENVENUE DANS LE JEU XO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FB7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FB7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Cree par : (ton prenom)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FB7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du createur : (ton age) ans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FB7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Prepare-toi a perdre !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0" y="1874520"/>
            <a:ext cx="566928" cy="566928"/>
          </a:xfrm>
          <a:prstGeom prst="ellipse">
            <a:avLst/>
          </a:prstGeom>
          <a:solidFill>
            <a:srgbClr val="6B2D8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18928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Appuyez sur F5 TOUT DE SUITE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2240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d'avoir rien écrit. Ça marche déjà.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0" y="2715768"/>
            <a:ext cx="566928" cy="566928"/>
          </a:xfrm>
          <a:prstGeom prst="ellipse">
            <a:avLst/>
          </a:prstGeom>
          <a:solidFill>
            <a:srgbClr val="6B2D8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0" y="2715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273405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Remplacez chaque ____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589520" y="30815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ce qu'on vous demande.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58000" y="3557016"/>
            <a:ext cx="566928" cy="566928"/>
          </a:xfrm>
          <a:prstGeom prst="ellipse">
            <a:avLst/>
          </a:prstGeom>
          <a:solidFill>
            <a:srgbClr val="6B2D8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58000" y="35570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589520" y="357530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Relancez après CHAQUE changement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589520" y="392277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F5, encore et encore.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858000" y="4398264"/>
            <a:ext cx="566928" cy="566928"/>
          </a:xfrm>
          <a:prstGeom prst="ellipse">
            <a:avLst/>
          </a:prstGeom>
          <a:solidFill>
            <a:srgbClr val="6B2D8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858000" y="43982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7589520" y="44165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Enregistrez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589520" y="476402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▸ Enregistrer.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0080" y="52578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0C5C29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0080" y="5257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fichier est déjà ouvert sur votre écran. Cartes de signalisation sorties. C'est parti !</a:t>
            </a:r>
            <a:endParaRPr lang="en-US" sz="1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45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052560" y="1280160"/>
            <a:ext cx="530352" cy="530352"/>
          </a:xfrm>
          <a:prstGeom prst="roundRect">
            <a:avLst>
              <a:gd name="adj" fmla="val 3448"/>
            </a:avLst>
          </a:prstGeom>
          <a:solidFill>
            <a:srgbClr val="B06FD8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768535" y="1280160"/>
            <a:ext cx="530352" cy="530352"/>
          </a:xfrm>
          <a:prstGeom prst="roundRect">
            <a:avLst>
              <a:gd name="adj" fmla="val 3448"/>
            </a:avLst>
          </a:prstGeom>
          <a:solidFill>
            <a:srgbClr val="B06FD8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484510" y="1280160"/>
            <a:ext cx="530352" cy="530352"/>
          </a:xfrm>
          <a:prstGeom prst="roundRect">
            <a:avLst>
              <a:gd name="adj" fmla="val 3448"/>
            </a:avLst>
          </a:prstGeom>
          <a:solidFill>
            <a:srgbClr val="B06FD8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052560" y="1996135"/>
            <a:ext cx="530352" cy="530352"/>
          </a:xfrm>
          <a:prstGeom prst="roundRect">
            <a:avLst>
              <a:gd name="adj" fmla="val 3448"/>
            </a:avLst>
          </a:prstGeom>
          <a:solidFill>
            <a:srgbClr val="B06FD8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768535" y="1996135"/>
            <a:ext cx="530352" cy="530352"/>
          </a:xfrm>
          <a:prstGeom prst="roundRect">
            <a:avLst>
              <a:gd name="adj" fmla="val 3448"/>
            </a:avLst>
          </a:prstGeom>
          <a:solidFill>
            <a:srgbClr val="B06FD8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484510" y="1996135"/>
            <a:ext cx="530352" cy="530352"/>
          </a:xfrm>
          <a:prstGeom prst="roundRect">
            <a:avLst>
              <a:gd name="adj" fmla="val 3448"/>
            </a:avLst>
          </a:prstGeom>
          <a:solidFill>
            <a:srgbClr val="B06FD8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052560" y="2712110"/>
            <a:ext cx="530352" cy="530352"/>
          </a:xfrm>
          <a:prstGeom prst="roundRect">
            <a:avLst>
              <a:gd name="adj" fmla="val 3448"/>
            </a:avLst>
          </a:prstGeom>
          <a:solidFill>
            <a:srgbClr val="B06FD8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768535" y="2712110"/>
            <a:ext cx="530352" cy="530352"/>
          </a:xfrm>
          <a:prstGeom prst="roundRect">
            <a:avLst>
              <a:gd name="adj" fmla="val 3448"/>
            </a:avLst>
          </a:prstGeom>
          <a:solidFill>
            <a:srgbClr val="B06FD8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484510" y="2712110"/>
            <a:ext cx="530352" cy="530352"/>
          </a:xfrm>
          <a:prstGeom prst="roundRect">
            <a:avLst>
              <a:gd name="adj" fmla="val 3448"/>
            </a:avLst>
          </a:prstGeom>
          <a:solidFill>
            <a:srgbClr val="B06FD8">
              <a:alpha val="20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17373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4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26974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KAHOOT !</a:t>
            </a:r>
            <a:endParaRPr lang="en-US" sz="62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9319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va voir ce qui est resté. 15 questions.</a:t>
            </a:r>
            <a:endParaRPr lang="en-US" sz="22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n'est pas une note : c'est un jeu.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212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d'internet ? On lève les cartes de couleur :  1 = 🔴   2 = 🔵   3 = 🟠   4 = 🟢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55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CLÔTURE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180"/>
              </a:lnSpc>
              <a:buNone/>
            </a:pPr>
            <a:r>
              <a:rPr lang="en-US" sz="38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avez franchi la case 1.</a:t>
            </a:r>
            <a:endParaRPr lang="en-US" sz="3800" dirty="0"/>
          </a:p>
        </p:txBody>
      </p:sp>
      <p:sp>
        <p:nvSpPr>
          <p:cNvPr id="14" name="Shape 12"/>
          <p:cNvSpPr/>
          <p:nvPr/>
        </p:nvSpPr>
        <p:spPr>
          <a:xfrm>
            <a:off x="640080" y="2011680"/>
            <a:ext cx="25146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0080" y="21945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🧱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28346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Bâtisseur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2918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 programme a affiché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quelque chose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83280" y="2011680"/>
            <a:ext cx="25146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3383280" y="21945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🐞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3474720" y="28346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Chasseur de bug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3520440" y="32918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as trouvé une erreur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seul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26480" y="2011680"/>
            <a:ext cx="25146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126480" y="21945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💪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28346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Persévérant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263640" y="32918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as galéré,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tu es resté dessus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869680" y="2011680"/>
            <a:ext cx="25146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869680" y="21945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🤍</a:t>
            </a:r>
            <a:endParaRPr lang="en-US" sz="3000" dirty="0"/>
          </a:p>
        </p:txBody>
      </p:sp>
      <p:sp>
        <p:nvSpPr>
          <p:cNvPr id="28" name="Text 26"/>
          <p:cNvSpPr txBox="1"/>
          <p:nvPr/>
        </p:nvSpPr>
        <p:spPr>
          <a:xfrm>
            <a:off x="8961120" y="28346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Novice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9006840" y="32918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la classe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4251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1280160" y="4251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post-it avant de sortir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4937760" y="42519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j'ai compris ___ » et « je ne suis pas encore sûr de ___ ». Le deuxième est le plus important.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5029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</a:t>
            </a:r>
            <a:endParaRPr lang="en-US" sz="2200" dirty="0"/>
          </a:p>
        </p:txBody>
      </p:sp>
      <p:sp>
        <p:nvSpPr>
          <p:cNvPr id="34" name="Text 32"/>
          <p:cNvSpPr txBox="1"/>
          <p:nvPr/>
        </p:nvSpPr>
        <p:spPr>
          <a:xfrm>
            <a:off x="1280160" y="5029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code officiel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4937760" y="50292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le publie maintenant. Samedi, je le redonne à tout le monde. Une absence ne met personne en retard.</a:t>
            </a:r>
            <a:endParaRPr lang="en-US" sz="1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h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778240" y="1737360"/>
            <a:ext cx="658368" cy="658368"/>
          </a:xfrm>
          <a:prstGeom prst="roundRect">
            <a:avLst>
              <a:gd name="adj" fmla="val 2778"/>
            </a:avLst>
          </a:prstGeom>
          <a:solidFill>
            <a:srgbClr val="FFB74D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667037" y="1737360"/>
            <a:ext cx="658368" cy="658368"/>
          </a:xfrm>
          <a:prstGeom prst="roundRect">
            <a:avLst>
              <a:gd name="adj" fmla="val 2778"/>
            </a:avLst>
          </a:prstGeom>
          <a:solidFill>
            <a:srgbClr val="FFB74D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555834" y="1737360"/>
            <a:ext cx="658368" cy="658368"/>
          </a:xfrm>
          <a:prstGeom prst="roundRect">
            <a:avLst>
              <a:gd name="adj" fmla="val 2778"/>
            </a:avLst>
          </a:prstGeom>
          <a:solidFill>
            <a:srgbClr val="FFB74D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778240" y="2626157"/>
            <a:ext cx="658368" cy="658368"/>
          </a:xfrm>
          <a:prstGeom prst="roundRect">
            <a:avLst>
              <a:gd name="adj" fmla="val 2778"/>
            </a:avLst>
          </a:prstGeom>
          <a:solidFill>
            <a:srgbClr val="FFB74D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667037" y="2626157"/>
            <a:ext cx="658368" cy="658368"/>
          </a:xfrm>
          <a:prstGeom prst="roundRect">
            <a:avLst>
              <a:gd name="adj" fmla="val 2778"/>
            </a:avLst>
          </a:prstGeom>
          <a:solidFill>
            <a:srgbClr val="FFB74D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555834" y="2626157"/>
            <a:ext cx="658368" cy="658368"/>
          </a:xfrm>
          <a:prstGeom prst="roundRect">
            <a:avLst>
              <a:gd name="adj" fmla="val 2778"/>
            </a:avLst>
          </a:prstGeom>
          <a:solidFill>
            <a:srgbClr val="FFB74D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778240" y="3514954"/>
            <a:ext cx="658368" cy="658368"/>
          </a:xfrm>
          <a:prstGeom prst="roundRect">
            <a:avLst>
              <a:gd name="adj" fmla="val 2778"/>
            </a:avLst>
          </a:prstGeom>
          <a:solidFill>
            <a:srgbClr val="FFB74D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667037" y="3514954"/>
            <a:ext cx="658368" cy="658368"/>
          </a:xfrm>
          <a:prstGeom prst="roundRect">
            <a:avLst>
              <a:gd name="adj" fmla="val 2778"/>
            </a:avLst>
          </a:prstGeom>
          <a:solidFill>
            <a:srgbClr val="FFB74D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555834" y="3514954"/>
            <a:ext cx="658368" cy="658368"/>
          </a:xfrm>
          <a:prstGeom prst="roundRect">
            <a:avLst>
              <a:gd name="adj" fmla="val 2778"/>
            </a:avLst>
          </a:prstGeom>
          <a:solidFill>
            <a:srgbClr val="FFB74D">
              <a:alpha val="20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1920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SAMEDI PROCHAIN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2514600"/>
            <a:ext cx="7772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jeu ne va plus</a:t>
            </a:r>
            <a:endParaRPr lang="en-US" sz="40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seulement parler.</a:t>
            </a:r>
            <a:endParaRPr lang="en-US" sz="4000" dirty="0"/>
          </a:p>
          <a:p>
            <a:pPr indent="0" marL="0">
              <a:lnSpc>
                <a:spcPts val="5000"/>
              </a:lnSpc>
              <a:buNone/>
            </a:pPr>
            <a:endParaRPr lang="en-US" sz="40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va vous ÉCOUTER.</a:t>
            </a:r>
            <a:endParaRPr lang="en-US" sz="40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212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samedi, les Geeks !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Seance 1 - Le Decollage</dc:title>
  <dc:subject>PptxGenJS Presentation</dc:subject>
  <dc:creator>Jerusalem Geeks &amp; Jeremiah Geeks</dc:creator>
  <cp:lastModifiedBy>Jerusalem Geeks &amp; Jeremiah Geeks</cp:lastModifiedBy>
  <cp:revision>1</cp:revision>
  <dcterms:created xsi:type="dcterms:W3CDTF">2026-09-12T00:04:18Z</dcterms:created>
  <dcterms:modified xsi:type="dcterms:W3CDTF">2026-09-12T00:04:18Z</dcterms:modified>
</cp:coreProperties>
</file>