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affichée pendant que les élèves entrent. Thonny est déjà ouvert sur le poste de démonstration, police en taille 18.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à 12 minutes. Sur les deux dernières minutes, annoncer la séance : « Samedi dernier on a beaucoup parlé et on n'a pas eu le temps d'allumer les machines. Aujourd'hui on répare ça : à 13 h 10, tout le monde est devant un clavier.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Trois phrases, pas plus. On ne détaille rien ici.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minutes maximum, ramassage compris. NE PAS nommer ceux qui n'ont pas rendu. Noter les rendus dans l'onglet Suivi du classeur, le soir.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BASCULER MAINTENANT sur le fichier quiz-seance-1.pptx (dossier de la séance 1). 2 min de règle du jeu, 15 questions à UNE minute chacune, 3 min de conclusion. EN RETARD : on garde les 10 premières questions. Une seule phrase d'explication par question — c'est la règle qui sauve le bloc machine.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Personne ne lève sa carte avant le 1. Sinon les autres recopient. On compte à vue, on n'écrit aucun score.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Quinze minutes, montre en main. C'est le bloc qui n'a pas pu être fait samedi dernier.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binômes sont DÉJÀ composés : on les annonce, on ne les fabrique pas devant la classe. Un élève à l'aise avec un élève moins à l'aise.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le fait dire debout, une seule fois, tous ensemble. C'est le contrat de binôme, déjà affiché au mur.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Aujourd'hui, tout le monde est en piste bleue : c'est le premier contact machine, on ne complique rien. Personne n'est « de la piste bleue » : ce n'est pas un niveau, c'est un choix du jour.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LENTEMENT. C'est la diapo la plus importante de la séance pour les élèves les plus fragiles. On appelle ça « le Filet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Deux minutes. Ne pas développer : ils le vérifieront à l'usage.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PENDANT LA PAUSE : allumer tous les postes, ouvrir Thonny sur chacun, vérifier que GEEKS/mon_xo/jeu.py s'ouvre. À 13 h 10 on commence, on n'attend pas les retardataires.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Tout ce qui précède pouvait être raccourci. Ce bloc, non. 35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montre sur l'écran projeté, pas sur une image. 5 minutes en tout, cartes de signalisation comprises.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cartes sont déjà sur les postes, distribuées en séance 1. 1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CODE, VOUS PRÉDISEZ : je tape caractère par caractère en verbalisant, puis AVANT d'appuyer sur F5 je demande « qu'est-ce qui va s'afficher ? À trois. » Après : « Vous venez de voir un ordinateur OBÉIR. C'est tout le métier.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Demander avant de lancer : « dans quel ordre ça va s'afficher ? » Puis F5.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MOMENT LE PLUS IMPORTANT DE LA SÉANCE. Lentement, sans dramatiser. « Est-ce que l'ordinateur est cassé ? Non. Est-ce que je suis puni ? Non. » Puis je corrige devant eux, je relance, ça marche. Et : « aujourd'hui, celui qui voit du rouge lève le pouce : il a trouvé quelque chose.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 minutes. Je circule, je ne m'assois pas, je ne touche JAMAIS le clavier d'un élève. Devant une erreur : je lis le message rouge AVEC l'élève et je demande « qu'est-ce qu'il te dit ? ». À 13 h 35 : signal d'échange pilote/copilote.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à laisser affichée pendant tout l'atelier : elle répond à 80 % des mains levées.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Tous ensemble, au signal. Vérifier d'un coup d'œil que l'étoile a disparu partout. Puis ouvrir GEEKS/xo_officiel devant 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 de badges : on appelle chaque élève par son nom et on dit POUR QUOI en trois mots. Puis 5 min de Mur de Mission (chacun écrit son prénom sur la case 2), puis 4 min de post-it : une chose comprise, une chose pas comprise. On les lit le soir même.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Dernière phrase de la séance. On laisse la diapo affichée pendant la sortie.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503920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466783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429646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503920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466783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0429646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503920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466783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0429646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13716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B0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JERUSALEM GEEKS  ·  JEREMIAH GEEKS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19202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JEU </a:t>
            </a:r>
            <a:pPr indent="0" marL="0">
              <a:buNone/>
            </a:pPr>
            <a:r>
              <a:rPr lang="en-US" sz="68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pPr indent="0" marL="0">
              <a:buNone/>
            </a:pPr>
            <a:r>
              <a:rPr lang="en-US" sz="68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68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2004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 2  —  « Premier contact machine »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9776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samedi 19 septembre 2026   ·   12 h - 14 h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4846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Aujourd'hui, on allume les machines.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- 12 h 15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182880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🙏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971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Prière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8404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 chaque samedi, on commence par là.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15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PROGRAMME D'AUJOURD'HUI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choses, puis les machines.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2514600"/>
            <a:ext cx="566928" cy="566928"/>
          </a:xfrm>
          <a:prstGeom prst="ellipse">
            <a:avLst/>
          </a:prstGeom>
          <a:solidFill>
            <a:srgbClr val="6B2D8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321868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exercices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3730752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ramasse ce que vous avez fait à la maison.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42900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57600" y="2514600"/>
            <a:ext cx="566928" cy="566928"/>
          </a:xfrm>
          <a:prstGeom prst="ellipse">
            <a:avLst/>
          </a:prstGeom>
          <a:solidFill>
            <a:srgbClr val="13678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65760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3657600" y="321868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36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jeu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3657600" y="3730752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quiz de samedi dernier. 15 questions, avec les cartes.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21792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46520" y="2514600"/>
            <a:ext cx="566928" cy="56692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4652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6446520" y="321868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on travaille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6446520" y="3730752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binômes, les pistes, et ma promesse.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900684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EAF7E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235440" y="2514600"/>
            <a:ext cx="566928" cy="56692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23544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9235440" y="321868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MACHINES</a:t>
            </a:r>
            <a:endParaRPr lang="en-US" sz="1900" dirty="0"/>
          </a:p>
        </p:txBody>
      </p:sp>
      <p:sp>
        <p:nvSpPr>
          <p:cNvPr id="33" name="Text 31"/>
          <p:cNvSpPr txBox="1"/>
          <p:nvPr/>
        </p:nvSpPr>
        <p:spPr>
          <a:xfrm>
            <a:off x="9235440" y="3730752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13 h 10. Votre premier vrai programme.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13 h 10, tout le monde est devant un clavier. C'est la seule chose qui ne bougera pas.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15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EXERCICES DE DÉCOLLAGE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ramasse. On ne corrige pas.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377440"/>
            <a:ext cx="344424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68680" y="2633472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compte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3163824"/>
            <a:ext cx="298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vous ayez essayé. Ce n'est pas noté, il n'y a pas de mauvaise réponse.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358640" y="2377440"/>
            <a:ext cx="344424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587240" y="2633472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Ceux qui n'ont rien fait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4587240" y="3163824"/>
            <a:ext cx="298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n'était pas obligatoire. Vous n'êtes pas en retard : la séance d'aujourd'hui ne les suppose pas faits.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077200" y="2377440"/>
            <a:ext cx="344424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305800" y="2633472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qu'on en fait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8305800" y="3163824"/>
            <a:ext cx="298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les lis ce soir. Les erreurs qui reviennent, on les reprend ensemble samedi prochain.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25 - 12 h 45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052560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793224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533888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052560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793224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533888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052560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793224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33888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7373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60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7432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KAHOOT !</a:t>
            </a:r>
            <a:endParaRPr lang="en-US" sz="56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749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i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questions sur samedi dernier. Ce n'est pas une note : c'est un jeu.</a:t>
            </a:r>
            <a:endParaRPr lang="en-US" sz="21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44805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répond tous en même temps, avec les cartes de couleur.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25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RÈGLE DU JEU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carte, pas une main levée.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377440"/>
            <a:ext cx="2377440" cy="1737360"/>
          </a:xfrm>
          <a:prstGeom prst="roundRect">
            <a:avLst>
              <a:gd name="adj" fmla="val 4211"/>
            </a:avLst>
          </a:prstGeom>
          <a:solidFill>
            <a:srgbClr val="FF6B6B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2960" y="2606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1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30632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3337560" y="2377440"/>
            <a:ext cx="2377440" cy="1737360"/>
          </a:xfrm>
          <a:prstGeom prst="roundRect">
            <a:avLst>
              <a:gd name="adj" fmla="val 4211"/>
            </a:avLst>
          </a:prstGeom>
          <a:solidFill>
            <a:srgbClr val="4FC3F7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520440" y="2606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2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520440" y="30632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BLEU</a:t>
            </a:r>
            <a:endParaRPr lang="en-US" sz="2600" dirty="0"/>
          </a:p>
        </p:txBody>
      </p:sp>
      <p:sp>
        <p:nvSpPr>
          <p:cNvPr id="20" name="Shape 18"/>
          <p:cNvSpPr/>
          <p:nvPr/>
        </p:nvSpPr>
        <p:spPr>
          <a:xfrm>
            <a:off x="6035040" y="2377440"/>
            <a:ext cx="2377440" cy="1737360"/>
          </a:xfrm>
          <a:prstGeom prst="roundRect">
            <a:avLst>
              <a:gd name="adj" fmla="val 4211"/>
            </a:avLst>
          </a:prstGeom>
          <a:solidFill>
            <a:srgbClr val="FFB74D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217920" y="2606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3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30632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8732520" y="2377440"/>
            <a:ext cx="2377440" cy="1737360"/>
          </a:xfrm>
          <a:prstGeom prst="roundRect">
            <a:avLst>
              <a:gd name="adj" fmla="val 4211"/>
            </a:avLst>
          </a:prstGeom>
          <a:solidFill>
            <a:srgbClr val="2FB765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915400" y="2606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4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915400" y="30632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lis la question, je lis les 4 réponses, je compte « 3, 2, 1 » — et tout le monde lève sa carte EN MÊME TEMPS.</a:t>
            </a:r>
            <a:endParaRPr lang="en-US" sz="2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45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869680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635033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400386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869680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635033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400386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869680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635033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400386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640080" y="2057400"/>
            <a:ext cx="1051560" cy="1051560"/>
          </a:xfrm>
          <a:prstGeom prst="ellipse">
            <a:avLst/>
          </a:prstGeom>
          <a:solidFill>
            <a:srgbClr val="6B2D8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" y="20574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400" dirty="0"/>
          </a:p>
        </p:txBody>
      </p:sp>
      <p:sp>
        <p:nvSpPr>
          <p:cNvPr id="23" name="Text 21"/>
          <p:cNvSpPr txBox="1"/>
          <p:nvPr/>
        </p:nvSpPr>
        <p:spPr>
          <a:xfrm>
            <a:off x="2103120" y="21031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MÉTHODE DE TRAVAIL</a:t>
            </a:r>
            <a:endParaRPr lang="en-US" sz="4000" dirty="0"/>
          </a:p>
        </p:txBody>
      </p:sp>
      <p:sp>
        <p:nvSpPr>
          <p:cNvPr id="24" name="Text 22"/>
          <p:cNvSpPr txBox="1"/>
          <p:nvPr/>
        </p:nvSpPr>
        <p:spPr>
          <a:xfrm>
            <a:off x="2103120" y="32004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on va travailler pendant 20 samedis.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45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TRAVAILLE À DEUX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pilote, un copilote.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5303520" cy="2377440"/>
          </a:xfrm>
          <a:prstGeom prst="roundRect">
            <a:avLst>
              <a:gd name="adj" fmla="val 3077"/>
            </a:avLst>
          </a:prstGeom>
          <a:solidFill>
            <a:srgbClr val="EAF4FB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68680" y="254203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36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🕹️  LE PILOTE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3072384"/>
            <a:ext cx="4846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7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a le clavier et la souris.</a:t>
            </a:r>
            <a:endParaRPr lang="en-US" sz="1700" dirty="0"/>
          </a:p>
          <a:p>
            <a:pPr indent="0" marL="0">
              <a:lnSpc>
                <a:spcPts val="2000"/>
              </a:lnSpc>
              <a:buNone/>
            </a:pPr>
            <a:endParaRPr lang="en-US" sz="17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7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 seul touche la machine.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217920" y="2286000"/>
            <a:ext cx="5303520" cy="2377440"/>
          </a:xfrm>
          <a:prstGeom prst="roundRect">
            <a:avLst>
              <a:gd name="adj" fmla="val 3077"/>
            </a:avLst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446520" y="254203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  LE COPILOTE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3072384"/>
            <a:ext cx="4846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7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lit la consigne à voix haute et surveille les fautes.</a:t>
            </a:r>
            <a:endParaRPr lang="en-US" sz="1700" dirty="0"/>
          </a:p>
          <a:p>
            <a:pPr indent="0" marL="0">
              <a:lnSpc>
                <a:spcPts val="2000"/>
              </a:lnSpc>
              <a:buNone/>
            </a:pPr>
            <a:endParaRPr lang="en-US" sz="17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7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ne prend JAMAIS le clavier.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échange toutes les 10 minutes, à mon signal.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47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ENSEMBLE, À VOIX HAUTE :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194560"/>
            <a:ext cx="1088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Je ne prends pas le clavier de mon binôme.</a:t>
            </a:r>
            <a:endParaRPr lang="en-US" sz="3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ne me moque pas.</a:t>
            </a:r>
            <a:endParaRPr lang="en-US" sz="3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demande de l'aide à deux avant de la demander au professeur. »</a:t>
            </a:r>
            <a:endParaRPr lang="en-US" sz="3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51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CHAQUE ATELIER, VOUS CHOISISSEZ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trois pistes.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240280"/>
            <a:ext cx="3444240" cy="2194560"/>
          </a:xfrm>
          <a:prstGeom prst="roundRect">
            <a:avLst>
              <a:gd name="adj" fmla="val 3333"/>
            </a:avLst>
          </a:prstGeom>
          <a:solidFill>
            <a:srgbClr val="EAF4FB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68680" y="2496312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6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 PISTE BLEUE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3026664"/>
            <a:ext cx="2987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fichier est déjà écrit, avec des trous à remplir. Il marche déjà quand tu le lances.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358640" y="2240280"/>
            <a:ext cx="3444240" cy="2194560"/>
          </a:xfrm>
          <a:prstGeom prst="roundRect">
            <a:avLst>
              <a:gd name="adj" fmla="val 3333"/>
            </a:avLst>
          </a:prstGeom>
          <a:solidFill>
            <a:srgbClr val="FDEDED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587240" y="2496312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B01B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 PISTE ROUGE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4587240" y="3026664"/>
            <a:ext cx="2987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écris toi-même, avec le modèle affiché à l'écran.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077200" y="2240280"/>
            <a:ext cx="3444240" cy="2194560"/>
          </a:xfrm>
          <a:prstGeom prst="roundRect">
            <a:avLst>
              <a:gd name="adj" fmla="val 3333"/>
            </a:avLst>
          </a:prstGeom>
          <a:solidFill>
            <a:srgbClr val="ECECF2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305800" y="2496312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⚫  PISTE NOIRE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8305800" y="3026664"/>
            <a:ext cx="2987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même chose, plus un défi en plus pour ceux qui veulent aller plus loin.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trois pistes arrivent au MÊME résultat. Et on change de piste quand on veut.</a:t>
            </a:r>
            <a:endParaRPr lang="en-US" sz="2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55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235440" y="1005840"/>
            <a:ext cx="502920" cy="502920"/>
          </a:xfrm>
          <a:prstGeom prst="roundRect">
            <a:avLst>
              <a:gd name="adj" fmla="val 3636"/>
            </a:avLst>
          </a:prstGeom>
          <a:solidFill>
            <a:srgbClr val="2FB765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914382" y="1005840"/>
            <a:ext cx="502920" cy="502920"/>
          </a:xfrm>
          <a:prstGeom prst="roundRect">
            <a:avLst>
              <a:gd name="adj" fmla="val 3636"/>
            </a:avLst>
          </a:prstGeom>
          <a:solidFill>
            <a:srgbClr val="2FB765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593324" y="1005840"/>
            <a:ext cx="502920" cy="502920"/>
          </a:xfrm>
          <a:prstGeom prst="roundRect">
            <a:avLst>
              <a:gd name="adj" fmla="val 3636"/>
            </a:avLst>
          </a:prstGeom>
          <a:solidFill>
            <a:srgbClr val="2FB765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235440" y="1684782"/>
            <a:ext cx="502920" cy="502920"/>
          </a:xfrm>
          <a:prstGeom prst="roundRect">
            <a:avLst>
              <a:gd name="adj" fmla="val 3636"/>
            </a:avLst>
          </a:prstGeom>
          <a:solidFill>
            <a:srgbClr val="2FB765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914382" y="1684782"/>
            <a:ext cx="502920" cy="502920"/>
          </a:xfrm>
          <a:prstGeom prst="roundRect">
            <a:avLst>
              <a:gd name="adj" fmla="val 3636"/>
            </a:avLst>
          </a:prstGeom>
          <a:solidFill>
            <a:srgbClr val="2FB765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593324" y="1684782"/>
            <a:ext cx="502920" cy="502920"/>
          </a:xfrm>
          <a:prstGeom prst="roundRect">
            <a:avLst>
              <a:gd name="adj" fmla="val 3636"/>
            </a:avLst>
          </a:prstGeom>
          <a:solidFill>
            <a:srgbClr val="2FB765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235440" y="2363724"/>
            <a:ext cx="502920" cy="502920"/>
          </a:xfrm>
          <a:prstGeom prst="roundRect">
            <a:avLst>
              <a:gd name="adj" fmla="val 3636"/>
            </a:avLst>
          </a:prstGeom>
          <a:solidFill>
            <a:srgbClr val="2FB765">
              <a:alpha val="1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914382" y="2363724"/>
            <a:ext cx="502920" cy="502920"/>
          </a:xfrm>
          <a:prstGeom prst="roundRect">
            <a:avLst>
              <a:gd name="adj" fmla="val 3636"/>
            </a:avLst>
          </a:prstGeom>
          <a:solidFill>
            <a:srgbClr val="2FB765">
              <a:alpha val="1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93324" y="2363724"/>
            <a:ext cx="502920" cy="502920"/>
          </a:xfrm>
          <a:prstGeom prst="roundRect">
            <a:avLst>
              <a:gd name="adj" fmla="val 3636"/>
            </a:avLst>
          </a:prstGeom>
          <a:solidFill>
            <a:srgbClr val="2FB765">
              <a:alpha val="1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463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FB7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PROMESSE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103120"/>
            <a:ext cx="8595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la fin de chaque séance,</a:t>
            </a:r>
            <a:endParaRPr lang="en-US" sz="36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vous donne le code officiel.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931920"/>
            <a:ext cx="8595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100" i="1" dirty="0">
                <a:solidFill>
                  <a:srgbClr val="2FB7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si tu n'as pas fini. Même si tu étais absent.</a:t>
            </a:r>
            <a:endParaRPr lang="en-US" sz="21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100" i="1" dirty="0">
                <a:solidFill>
                  <a:srgbClr val="2FB7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samedi, tout le monde repart du même point.</a:t>
            </a:r>
            <a:endParaRPr lang="en-US" sz="21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12064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cette formation, on ne peut pas prendre du retard.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58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LES NOTES ?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n'y en a pas. Ni classement.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34442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2514600"/>
            <a:ext cx="566928" cy="56692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3218688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Ça marche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3730752"/>
            <a:ext cx="298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programme fait ce qu'on lui demande.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358640" y="2286000"/>
            <a:ext cx="34442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87240" y="2514600"/>
            <a:ext cx="566928" cy="566928"/>
          </a:xfrm>
          <a:prstGeom prst="ellipse">
            <a:avLst/>
          </a:prstGeom>
          <a:solidFill>
            <a:srgbClr val="13678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8724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4587240" y="3218688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36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sais l'expliquer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4587240" y="3730752"/>
            <a:ext cx="298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peux dire à quoi sert chaque ligne.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077200" y="2286000"/>
            <a:ext cx="34442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305800" y="2514600"/>
            <a:ext cx="566928" cy="566928"/>
          </a:xfrm>
          <a:prstGeom prst="ellipse">
            <a:avLst/>
          </a:prstGeom>
          <a:solidFill>
            <a:srgbClr val="6B2D8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30580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8305800" y="3218688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sais le refaire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8305800" y="3730752"/>
            <a:ext cx="298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seul, sans le modèle.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chose est acquise quand ces trois-là sont vraies. C'est tout.</a:t>
            </a:r>
            <a:endParaRPr lang="en-US" sz="2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- 13 h 10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182880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971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8862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minutes. Levez-vous, sortez, bougez.   ·   Retour à 13 h 10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10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869680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635033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400386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869680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635033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400386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869680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635033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400386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6459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MAINTENANT…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28600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ALLUME</a:t>
            </a:r>
            <a:endParaRPr lang="en-US" sz="54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MACHINES.</a:t>
            </a:r>
            <a:endParaRPr lang="en-US" sz="5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10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CONTACT MACHINE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Thonny : trois repères, pas plus.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34442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2514600"/>
            <a:ext cx="566928" cy="566928"/>
          </a:xfrm>
          <a:prstGeom prst="ellipse">
            <a:avLst/>
          </a:prstGeom>
          <a:solidFill>
            <a:srgbClr val="6B2D8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3218688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zone blanche, en haut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3730752"/>
            <a:ext cx="298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là qu'on ÉCRIT son programme.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358640" y="2286000"/>
            <a:ext cx="34442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87240" y="2514600"/>
            <a:ext cx="566928" cy="566928"/>
          </a:xfrm>
          <a:prstGeom prst="ellipse">
            <a:avLst/>
          </a:prstGeom>
          <a:solidFill>
            <a:srgbClr val="5A5A7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8724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4587240" y="3218688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zone grise, en bas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4587240" y="3730752"/>
            <a:ext cx="298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là que l'ordinateur RÉPOND. On n'y écrit pas son programme.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077200" y="2286000"/>
            <a:ext cx="34442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305800" y="2514600"/>
            <a:ext cx="566928" cy="56692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30580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8305800" y="3218688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bouton vert, ou F5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8305800" y="3730752"/>
            <a:ext cx="298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« VAS-Y ». Rien ne se passe tant qu'on n'appuie pas dessus.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13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ICI, ON NE LÈVE PAS LA MAIN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lève une carte.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377440"/>
            <a:ext cx="2377440" cy="1920240"/>
          </a:xfrm>
          <a:prstGeom prst="roundRect">
            <a:avLst>
              <a:gd name="adj" fmla="val 3810"/>
            </a:avLst>
          </a:prstGeom>
          <a:solidFill>
            <a:srgbClr val="2FB765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2960" y="26060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31546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ça avance,</a:t>
            </a:r>
            <a:endParaRPr lang="en-US" sz="14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va bien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337560" y="2377440"/>
            <a:ext cx="2377440" cy="1920240"/>
          </a:xfrm>
          <a:prstGeom prst="roundRect">
            <a:avLst>
              <a:gd name="adj" fmla="val 3810"/>
            </a:avLst>
          </a:prstGeom>
          <a:solidFill>
            <a:srgbClr val="FFB74D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520440" y="26060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3520440" y="31546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suis bloqué —</a:t>
            </a:r>
            <a:endParaRPr lang="en-US" sz="14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continue à chercher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035040" y="2377440"/>
            <a:ext cx="2377440" cy="1920240"/>
          </a:xfrm>
          <a:prstGeom prst="roundRect">
            <a:avLst>
              <a:gd name="adj" fmla="val 3810"/>
            </a:avLst>
          </a:prstGeom>
          <a:solidFill>
            <a:srgbClr val="FF6B6B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217920" y="26060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31546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problème de machine :</a:t>
            </a:r>
            <a:endParaRPr lang="en-US" sz="14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 ne démarre pas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732520" y="2377440"/>
            <a:ext cx="2377440" cy="1920240"/>
          </a:xfrm>
          <a:prstGeom prst="roundRect">
            <a:avLst>
              <a:gd name="adj" fmla="val 3810"/>
            </a:avLst>
          </a:prstGeom>
          <a:solidFill>
            <a:srgbClr val="4FC3F7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915400" y="26060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BLEU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8915400" y="31546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j'ai fini,</a:t>
            </a:r>
            <a:endParaRPr lang="en-US" sz="14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veux le défi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 ça je vois toute la salle d'un coup d'œil — et tu continues à travailler pendant que j'arrive.</a:t>
            </a:r>
            <a:endParaRPr lang="en-US" sz="2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15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PREMIÈRE COMMANDE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146304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6B2D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print("Bonjour")</a:t>
            </a:r>
            <a:endParaRPr lang="en-US" sz="5400" dirty="0"/>
          </a:p>
        </p:txBody>
      </p:sp>
      <p:sp>
        <p:nvSpPr>
          <p:cNvPr id="14" name="Shape 12"/>
          <p:cNvSpPr/>
          <p:nvPr/>
        </p:nvSpPr>
        <p:spPr>
          <a:xfrm>
            <a:off x="640080" y="2834640"/>
            <a:ext cx="344424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68680" y="3090672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3621024"/>
            <a:ext cx="298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Ça veut dire AFFICHE.</a:t>
            </a:r>
            <a:endParaRPr lang="en-US" sz="15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Toujours en minuscules.</a:t>
            </a:r>
            <a:endParaRPr lang="en-US" sz="15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Ça n'imprime RIEN sur du papier.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358640" y="2834640"/>
            <a:ext cx="344424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587240" y="3090672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36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 )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4587240" y="3621024"/>
            <a:ext cx="298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parenthèse qu'on ouvre se referme TOUJOURS.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077200" y="2834640"/>
            <a:ext cx="344424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305800" y="3090672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 "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8305800" y="3621024"/>
            <a:ext cx="298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guillemets vont par DEUX, comme des chaussures. Ce qui est dedans s'affiche tel quel.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18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IL LIT VOTRE PROGRAMME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haut en bas. Ligne par ligne. Toujours.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51206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DDDDE8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14400" y="24231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print("Un")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035040" y="2359152"/>
            <a:ext cx="457200" cy="457200"/>
          </a:xfrm>
          <a:prstGeom prst="ellipse">
            <a:avLst/>
          </a:prstGeom>
          <a:solidFill>
            <a:srgbClr val="6B2D8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035040" y="2359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40080" y="3063240"/>
            <a:ext cx="51206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DDDDE8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14400" y="32004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print("Deux")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6035040" y="3136392"/>
            <a:ext cx="457200" cy="457200"/>
          </a:xfrm>
          <a:prstGeom prst="ellipse">
            <a:avLst/>
          </a:prstGeom>
          <a:solidFill>
            <a:srgbClr val="6B2D8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035040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40080" y="3840480"/>
            <a:ext cx="51206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DDDDE8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914400" y="3977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print("Trois")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6035040" y="3913632"/>
            <a:ext cx="457200" cy="457200"/>
          </a:xfrm>
          <a:prstGeom prst="ellipse">
            <a:avLst/>
          </a:prstGeom>
          <a:solidFill>
            <a:srgbClr val="6B2D8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035040" y="3913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237744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24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ne devine pas.</a:t>
            </a:r>
            <a:endParaRPr lang="en-US" sz="24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4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ne saute pas de ligne.</a:t>
            </a:r>
            <a:endParaRPr lang="en-US" sz="24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4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ne revient pas en arrière.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6949440" y="448056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ça s'affiche dans le désordre, ce n'est pas lui : c'est l'ordre de vos lignes.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21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12801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MAINTENANT, JE CASSE TOUT.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1920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print("Bonjour)</a:t>
            </a:r>
            <a:endParaRPr lang="en-US" sz="4400" dirty="0"/>
          </a:p>
        </p:txBody>
      </p:sp>
      <p:sp>
        <p:nvSpPr>
          <p:cNvPr id="14" name="Shape 12"/>
          <p:cNvSpPr/>
          <p:nvPr/>
        </p:nvSpPr>
        <p:spPr>
          <a:xfrm>
            <a:off x="640080" y="310896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2A1420"/>
          </a:solidFill>
          <a:ln w="19050">
            <a:solidFill>
              <a:srgbClr val="FF6B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5840" y="3291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SyntaxError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794760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manque un guillemet. L'ordinateur te dit ce qu'il n'a pas compris, et il te montre la ligne.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8463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rouge n'est pas une punition. LE ROUGE EST UNE INFORMATION.</a:t>
            </a:r>
            <a:endParaRPr lang="en-US" sz="2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25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VOUS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mission : l'écran d'accueil du jeu.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148840"/>
            <a:ext cx="5852160" cy="2834640"/>
          </a:xfrm>
          <a:prstGeom prst="roundRect">
            <a:avLst>
              <a:gd name="adj" fmla="val 2581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377440"/>
            <a:ext cx="5303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===================================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BIENVENUE DANS LE JEU XO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===================================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Cree par : TON PRENOM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 du createur : ... ans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Prepare-toi a perdre !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766560" y="2194560"/>
            <a:ext cx="402336" cy="402336"/>
          </a:xfrm>
          <a:prstGeom prst="ellipse">
            <a:avLst/>
          </a:prstGeom>
          <a:solidFill>
            <a:srgbClr val="6B2D8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766560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0" y="22402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Ouvre GEEKS → mon_xo → jeu.py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766560" y="2761488"/>
            <a:ext cx="402336" cy="402336"/>
          </a:xfrm>
          <a:prstGeom prst="ellipse">
            <a:avLst/>
          </a:prstGeom>
          <a:solidFill>
            <a:srgbClr val="6B2D8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66560" y="2761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28072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Appuie sur F5 TOUT DE SUITE : il marche déjà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766560" y="3328416"/>
            <a:ext cx="402336" cy="402336"/>
          </a:xfrm>
          <a:prstGeom prst="ellipse">
            <a:avLst/>
          </a:prstGeom>
          <a:solidFill>
            <a:srgbClr val="6B2D8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766560" y="3328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0" y="337413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Remplace chaque ____ par ce qu'on te demande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766560" y="3895344"/>
            <a:ext cx="402336" cy="402336"/>
          </a:xfrm>
          <a:prstGeom prst="ellipse">
            <a:avLst/>
          </a:prstGeom>
          <a:solidFill>
            <a:srgbClr val="6B2D8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766560" y="38953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0" y="39410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Relance (F5) après CHAQUE changement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6766560" y="4462272"/>
            <a:ext cx="402336" cy="402336"/>
          </a:xfrm>
          <a:prstGeom prst="ellipse">
            <a:avLst/>
          </a:prstGeom>
          <a:solidFill>
            <a:srgbClr val="6B2D8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766560" y="4462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315200" y="450799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 + S pour sauver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Pilote au clavier. Copilote sur la consigne. Échange à 13 h 35.</a:t>
            </a:r>
            <a:endParaRPr lang="en-US" sz="2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27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L'ÉCRAN DEVIENT ROUGE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trois erreurs de la journée.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24028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14400" y="24871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SyntaxError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840480" y="2505456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manque un guillemet ou une parenthèse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248716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Compte tes guillemets : ils vont par deux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3264408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14400" y="3511296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NameError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3840480" y="3529584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texte écrit sans guillemets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680960" y="351129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Mets ton texte entre guillemets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0080" y="4288536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914400" y="4535424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Rien ne se passe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840480" y="455371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as écrit dans la zone grise du bas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680960" y="4535424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Remonte dans la zone blanche, en haut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répares une erreur ? Tu gagnes le badge 🐞 Chasseur de bug.</a:t>
            </a:r>
            <a:endParaRPr lang="en-US" sz="2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42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1554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SAUVEGARDE.</a:t>
            </a:r>
            <a:endParaRPr lang="en-US" sz="46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5603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 + S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4747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L'étoile ⭑ doit disparaître à côté du nom du fichier.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2377440" y="4206240"/>
            <a:ext cx="7406640" cy="1280160"/>
          </a:xfrm>
          <a:prstGeom prst="roundRect">
            <a:avLst>
              <a:gd name="adj" fmla="val 5714"/>
            </a:avLst>
          </a:prstGeom>
          <a:solidFill>
            <a:srgbClr val="0E2A1A"/>
          </a:solidFill>
          <a:ln w="19050">
            <a:solidFill>
              <a:srgbClr val="2FB76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743200" y="443484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FB7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voici le code officiel de la séance : il est déjà sur votre poste, dans xo_officiel.</a:t>
            </a:r>
            <a:endParaRPr lang="en-US" sz="1700" dirty="0"/>
          </a:p>
          <a:p>
            <a:pPr algn="ctr"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FB7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Celui qui n'a pas fini l'a aussi. C'était ma promesse.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45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CLÔTURE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avez écrit votre premier programme.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237744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0080" y="24688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🧱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31546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Bâtisseur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36118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 programme a affiché quelque chose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337560" y="2286000"/>
            <a:ext cx="237744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337560" y="24688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🐞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3474720" y="31546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01B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Chasseur de bug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3520440" y="36118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as eu une erreur rouge et tu l'as réparée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035040" y="2286000"/>
            <a:ext cx="237744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035040" y="24688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</a:t>
            </a:r>
            <a:endParaRPr lang="en-US" sz="3200" dirty="0"/>
          </a:p>
        </p:txBody>
      </p:sp>
      <p:sp>
        <p:nvSpPr>
          <p:cNvPr id="24" name="Text 22"/>
          <p:cNvSpPr txBox="1"/>
          <p:nvPr/>
        </p:nvSpPr>
        <p:spPr>
          <a:xfrm>
            <a:off x="6172200" y="31546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6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6217920" y="36118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as aidé sans prendre le clavier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732520" y="2286000"/>
            <a:ext cx="237744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732520" y="24688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3200" dirty="0"/>
          </a:p>
        </p:txBody>
      </p:sp>
      <p:sp>
        <p:nvSpPr>
          <p:cNvPr id="28" name="Text 26"/>
          <p:cNvSpPr txBox="1"/>
          <p:nvPr/>
        </p:nvSpPr>
        <p:spPr>
          <a:xfrm>
            <a:off x="8869680" y="31546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Curieux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8915400" y="36118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as essayé quelque chose que personne n'avait demandé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le monde repart avec au moins un badge. Puis : le Mur de Mission, et les post-it.</a:t>
            </a:r>
            <a:endParaRPr lang="en-US" sz="2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h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052560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17913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583266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052560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817913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583266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052560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817913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83266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5544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SAMEDI PROCHAIN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194560"/>
            <a:ext cx="8229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jeu ne va plus</a:t>
            </a:r>
            <a:endParaRPr lang="en-US" sz="4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seulement parler.</a:t>
            </a:r>
            <a:endParaRPr lang="en-US" sz="4000" dirty="0"/>
          </a:p>
          <a:p>
            <a:pPr indent="0" marL="0">
              <a:lnSpc>
                <a:spcPts val="5200"/>
              </a:lnSpc>
              <a:buNone/>
            </a:pPr>
            <a:endParaRPr lang="en-US" sz="4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va vous ÉCOUTER.</a:t>
            </a:r>
            <a:endParaRPr lang="en-US" sz="40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937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À samedi, les Geeks !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Seance 2 - Premier contact machine</dc:title>
  <dc:subject>PptxGenJS Presentation</dc:subject>
  <dc:creator>Jerusalem Geeks &amp; Jeremiah Geeks</dc:creator>
  <cp:lastModifiedBy>Jerusalem Geeks &amp; Jeremiah Geeks</cp:lastModifiedBy>
  <cp:revision>1</cp:revision>
  <dcterms:created xsi:type="dcterms:W3CDTF">2026-09-18T10:26:03Z</dcterms:created>
  <dcterms:modified xsi:type="dcterms:W3CDTF">2026-09-18T10:26:03Z</dcterms:modified>
</cp:coreProperties>
</file>