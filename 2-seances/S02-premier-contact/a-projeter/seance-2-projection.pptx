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 affichée pendant que les élèves entrent. Thonny est déjà ouvert sur le poste de démonstration, police en taille 18.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à 12 minutes. Sur les deux dernières minutes, annoncer la séance : « samedi dernier on n'a pas eu le temps d'allumer les machines. Aujourd'hui on répare ça : à 13 h 05 tout le monde est devant un clavier. Et à 14 h, votre jeu vous demandera votre nom.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Trois phrases, pas plus. On ne détaille rien ici.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minutes maximum, ramassage compris. NE PAS nommer ceux qui n'ont pas rendu. Noter les rendus dans l'onglet Suivi du classeur, le soir.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BASCULER MAINTENANT sur quiz-seance-1.pptx. 2 min de règle, 15 questions à UNE minute, 3 min de conclusion. EN RETARD : garder les 10 premières. Une seule phrase d'explication par question — c'est la règle qui sauve le bloc machine.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Personne ne lève sa carte avant le 1, sinon les autres recopient. On compte à vue, on n'écrit aucun score.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Dix minutes, montre en main. Trois choses : les pistes, le Filet, l'évaluation. C'est le bloc qui n'a pas pu être fait samedi dernier.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Aujourd'hui tout le monde part en piste bleue : premier contact machine, on ne complique rien. Personne n'est « de la piste bleue » : ce n'est pas un niveau, c'est un choix du jour.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LENTEMENT. C'est la diapo la plus importante de la séance pour les élèves les plus fragiles.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Deux minutes. Ne pas développer : ils le vérifieront à l'usage.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PENDANT LA PAUSE : allumer tous les postes, ouvrir Thonny, vérifier que GEEKS/mon_xo/jeu.py s'ouvre. À 13 h 05 on commence, on n'attend pas les retardataires.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Tout ce qui précède pouvait être raccourci. Ce bloc, non.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montre sur l'écran projeté, pas sur une image. 7 minutes en tout, cartes comprises.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cartes sont déjà sur les postes depuis la séance 1. 1 minute, pas plus.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Trois phrases et on avance. On ouvre GEEKS/mon_xo/jeu.py sur l'écran projeté et on appuie sur F5 devant eux.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MOMENT LE PLUS IMPORTANT DE LA SÉANCE. Lentement, sans dramatiser. « Est-ce que l'ordinateur est cassé ? Non. Est-ce que je suis puni ? Non. » Puis je corrige devant eux, je relance, ça marche. Et : « aujourd'hui, celui qui voit du rouge lève le pouce : il a trouvé quelque chose.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Court exprès. Je circule, je ne m'assois pas, je ne touche jamais le clavier d'un élève. À 13 h 25 tout le monde lâche le clavier.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Tout le monde lâche le clavier. Écrans face à nous, mains sur la table. 8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C'EST LA QUESTION DU JOUR. On la pose AVANT de lancer, et on laisse la classe se tromper : c'est comme ça qu'ils comprennent. Puis on lance : il affiche Damien.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Une minute. C'est la confusion n°1 de toute l'année : on y revient à chaque fois que quelqu'un a un NameError.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lance, et ON TAPE LE PRÉNOM D'UN ÉLÈVE DE LA CLASSE. Effet garanti. « Le programme s'est arrêté et il m'attend. C'est ça, input.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 l'oubli de l'espace une fois, en vrai. Ils rient, ils retiennent. Et on s'arrête là : on les envoie faire.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 circule, je ne m'assois pas, je ne touche jamais le clavier. Devant une erreur : je lis le message AVEC l'élève et je demande « qu'est-ce qu'il te dit ? ». Le défi en plus : demander aussi l'âge du joueur.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 à laisser affichée pendant tout l'atelier : elle répond à la plupart des mains levées.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Tous ensemble, au signal. Vérifier d'un coup d'œil que l'étoile a disparu partout. Puis ouvrir GEEKS/xo_officiel devant eux.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minutes de Mur de Mission, 4 minutes de question à la classe. On note le soir même dans l'onglet Journal du classeur.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Dernière phrase de la séance. On laisse la diapo affichée pendant la sortie.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503920" y="141732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466783" y="141732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429646" y="141732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503920" y="238018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466783" y="238018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0429646" y="238018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503920" y="334304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466783" y="334304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0429646" y="334304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13716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B0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JERUSALEM GEEKS  ·  JEREMIAH GEEKS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19202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JEU </a:t>
            </a:r>
            <a:pPr indent="0" marL="0">
              <a:buNone/>
            </a:pPr>
            <a:r>
              <a:rPr lang="en-US" sz="68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pPr indent="0" marL="0">
              <a:buNone/>
            </a:pPr>
            <a:r>
              <a:rPr lang="en-US" sz="68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68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2004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Séance 2  —  « Premier contact machine »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39776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samedi 19 septembre 2026   ·   12 h - 14 h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4846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Aujourd'hui, votre jeu apprend à écouter.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- 12 h 15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182880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🙏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971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Prière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8404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 chaque samedi, on commence par là.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15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PROGRAMME D'AUJOURD'HUI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choses, puis les machines.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2514600"/>
            <a:ext cx="566928" cy="566928"/>
          </a:xfrm>
          <a:prstGeom prst="ellipse">
            <a:avLst/>
          </a:prstGeom>
          <a:solidFill>
            <a:srgbClr val="6B2D8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321868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exercices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3730752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ramasse ce que vous avez fait à la maison.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429000" y="228600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657600" y="2514600"/>
            <a:ext cx="566928" cy="566928"/>
          </a:xfrm>
          <a:prstGeom prst="ellipse">
            <a:avLst/>
          </a:prstGeom>
          <a:solidFill>
            <a:srgbClr val="13678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65760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3657600" y="321868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36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jeu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3657600" y="3730752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quiz de samedi dernier. 15 questions, avec les cartes.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217920" y="228600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46520" y="2514600"/>
            <a:ext cx="566928" cy="56692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4652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6446520" y="321868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on travaille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6446520" y="3730752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pistes, et ma promesse.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9006840" y="228600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EAF7E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235440" y="2514600"/>
            <a:ext cx="566928" cy="56692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23544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2" name="Text 30"/>
          <p:cNvSpPr txBox="1"/>
          <p:nvPr/>
        </p:nvSpPr>
        <p:spPr>
          <a:xfrm>
            <a:off x="9235440" y="321868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MACHINES</a:t>
            </a:r>
            <a:endParaRPr lang="en-US" sz="1900" dirty="0"/>
          </a:p>
        </p:txBody>
      </p:sp>
      <p:sp>
        <p:nvSpPr>
          <p:cNvPr id="33" name="Text 31"/>
          <p:cNvSpPr txBox="1"/>
          <p:nvPr/>
        </p:nvSpPr>
        <p:spPr>
          <a:xfrm>
            <a:off x="9235440" y="3730752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13 h 05. Votre jeu va vous demander votre nom.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13 h 05, tout le monde est devant un clavier. C'est la seule chose qui ne bougera pas.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15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EXERCICES DE DÉCOLLAGE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ramasse. On ne corrige pas.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640080" y="2377440"/>
            <a:ext cx="344424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68680" y="2633472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compte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3163824"/>
            <a:ext cx="298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vous ayez essayé. Ce n'est pas noté, il n'y a pas de mauvaise réponse.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358640" y="2377440"/>
            <a:ext cx="344424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587240" y="2633472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Ceux qui n'ont rien fait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4587240" y="3163824"/>
            <a:ext cx="298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n'était pas obligatoire. Vous n'êtes pas en retard : la séance d'aujourd'hui ne les suppose pas faits.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077200" y="2377440"/>
            <a:ext cx="344424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305800" y="2633472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qu'on en fait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8305800" y="3163824"/>
            <a:ext cx="298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les lis ce soir. Les erreurs qui reviennent, on les reprend ensemble.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25 - 12 h 45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052560" y="1005840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793224" y="1005840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533888" y="1005840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052560" y="1746504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793224" y="1746504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533888" y="1746504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052560" y="2487168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793224" y="2487168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33888" y="2487168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17373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</a:t>
            </a:r>
            <a:endParaRPr lang="en-US" sz="60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74320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QUIZ !</a:t>
            </a:r>
            <a:endParaRPr lang="en-US" sz="56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3749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i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questions sur samedi dernier. Ce n'est pas une note : c'est un jeu.</a:t>
            </a:r>
            <a:endParaRPr lang="en-US" sz="21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44805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répond tous en même temps, avec les cartes de couleur.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25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RÈGLE DU JEU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carte, pas une main levée.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640080" y="2377440"/>
            <a:ext cx="2377440" cy="1737360"/>
          </a:xfrm>
          <a:prstGeom prst="roundRect">
            <a:avLst>
              <a:gd name="adj" fmla="val 4211"/>
            </a:avLst>
          </a:prstGeom>
          <a:solidFill>
            <a:srgbClr val="FF6B6B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22960" y="2606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 1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30632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3337560" y="2377440"/>
            <a:ext cx="2377440" cy="1737360"/>
          </a:xfrm>
          <a:prstGeom prst="roundRect">
            <a:avLst>
              <a:gd name="adj" fmla="val 4211"/>
            </a:avLst>
          </a:prstGeom>
          <a:solidFill>
            <a:srgbClr val="4FC3F7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520440" y="2606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 2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520440" y="30632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BLEU</a:t>
            </a:r>
            <a:endParaRPr lang="en-US" sz="2600" dirty="0"/>
          </a:p>
        </p:txBody>
      </p:sp>
      <p:sp>
        <p:nvSpPr>
          <p:cNvPr id="20" name="Shape 18"/>
          <p:cNvSpPr/>
          <p:nvPr/>
        </p:nvSpPr>
        <p:spPr>
          <a:xfrm>
            <a:off x="6035040" y="2377440"/>
            <a:ext cx="2377440" cy="1737360"/>
          </a:xfrm>
          <a:prstGeom prst="roundRect">
            <a:avLst>
              <a:gd name="adj" fmla="val 4211"/>
            </a:avLst>
          </a:prstGeom>
          <a:solidFill>
            <a:srgbClr val="FFB74D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217920" y="2606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 3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30632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</a:t>
            </a:r>
            <a:endParaRPr lang="en-US" sz="2600" dirty="0"/>
          </a:p>
        </p:txBody>
      </p:sp>
      <p:sp>
        <p:nvSpPr>
          <p:cNvPr id="23" name="Shape 21"/>
          <p:cNvSpPr/>
          <p:nvPr/>
        </p:nvSpPr>
        <p:spPr>
          <a:xfrm>
            <a:off x="8732520" y="2377440"/>
            <a:ext cx="2377440" cy="1737360"/>
          </a:xfrm>
          <a:prstGeom prst="roundRect">
            <a:avLst>
              <a:gd name="adj" fmla="val 4211"/>
            </a:avLst>
          </a:prstGeom>
          <a:solidFill>
            <a:srgbClr val="2FB765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915400" y="2606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 4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915400" y="30632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lis la question, je lis les 4 réponses, je compte « 3, 2, 1 » — et tout le monde lève sa carte EN MÊME TEMPS.</a:t>
            </a:r>
            <a:endParaRPr lang="en-US" sz="2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45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869680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635033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400386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869680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635033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400386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869680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635033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400386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640080" y="2057400"/>
            <a:ext cx="1051560" cy="1051560"/>
          </a:xfrm>
          <a:prstGeom prst="ellipse">
            <a:avLst/>
          </a:prstGeom>
          <a:solidFill>
            <a:srgbClr val="6B2D8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080" y="205740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400" dirty="0"/>
          </a:p>
        </p:txBody>
      </p:sp>
      <p:sp>
        <p:nvSpPr>
          <p:cNvPr id="23" name="Text 21"/>
          <p:cNvSpPr txBox="1"/>
          <p:nvPr/>
        </p:nvSpPr>
        <p:spPr>
          <a:xfrm>
            <a:off x="2103120" y="21031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MÉTHODE DE TRAVAIL</a:t>
            </a:r>
            <a:endParaRPr lang="en-US" sz="4000" dirty="0"/>
          </a:p>
        </p:txBody>
      </p:sp>
      <p:sp>
        <p:nvSpPr>
          <p:cNvPr id="24" name="Text 22"/>
          <p:cNvSpPr txBox="1"/>
          <p:nvPr/>
        </p:nvSpPr>
        <p:spPr>
          <a:xfrm>
            <a:off x="2103120" y="320040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on va travailler pendant 20 samedis.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45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CHAQUE ATELIER, VOUS CHOISISSEZ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trois pistes.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640080" y="2240280"/>
            <a:ext cx="3444240" cy="2194560"/>
          </a:xfrm>
          <a:prstGeom prst="roundRect">
            <a:avLst>
              <a:gd name="adj" fmla="val 3333"/>
            </a:avLst>
          </a:prstGeom>
          <a:solidFill>
            <a:srgbClr val="EAF4FB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68680" y="2496312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6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 PISTE BLEUE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3026664"/>
            <a:ext cx="2987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fichier est déjà écrit, avec des trous à remplir. Il marche déjà quand tu le lances.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358640" y="2240280"/>
            <a:ext cx="3444240" cy="2194560"/>
          </a:xfrm>
          <a:prstGeom prst="roundRect">
            <a:avLst>
              <a:gd name="adj" fmla="val 3333"/>
            </a:avLst>
          </a:prstGeom>
          <a:solidFill>
            <a:srgbClr val="FDEDED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587240" y="2496312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B01B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 PISTE ROUGE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4587240" y="3026664"/>
            <a:ext cx="2987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écris toi-même, avec le modèle affiché à l'écran.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077200" y="2240280"/>
            <a:ext cx="3444240" cy="2194560"/>
          </a:xfrm>
          <a:prstGeom prst="roundRect">
            <a:avLst>
              <a:gd name="adj" fmla="val 3333"/>
            </a:avLst>
          </a:prstGeom>
          <a:solidFill>
            <a:srgbClr val="ECECF2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305800" y="2496312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⚫  PISTE NOIRE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8305800" y="3026664"/>
            <a:ext cx="2987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même chose, plus un défi en plus pour ceux qui veulent aller plus loin.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trois pistes arrivent au MÊME résultat. Et on change de piste quand on veut.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49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235440" y="1005840"/>
            <a:ext cx="502920" cy="502920"/>
          </a:xfrm>
          <a:prstGeom prst="roundRect">
            <a:avLst>
              <a:gd name="adj" fmla="val 3636"/>
            </a:avLst>
          </a:prstGeom>
          <a:solidFill>
            <a:srgbClr val="2FB765">
              <a:alpha val="1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914382" y="1005840"/>
            <a:ext cx="502920" cy="502920"/>
          </a:xfrm>
          <a:prstGeom prst="roundRect">
            <a:avLst>
              <a:gd name="adj" fmla="val 3636"/>
            </a:avLst>
          </a:prstGeom>
          <a:solidFill>
            <a:srgbClr val="2FB765">
              <a:alpha val="1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593324" y="1005840"/>
            <a:ext cx="502920" cy="502920"/>
          </a:xfrm>
          <a:prstGeom prst="roundRect">
            <a:avLst>
              <a:gd name="adj" fmla="val 3636"/>
            </a:avLst>
          </a:prstGeom>
          <a:solidFill>
            <a:srgbClr val="2FB765">
              <a:alpha val="1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235440" y="1684782"/>
            <a:ext cx="502920" cy="502920"/>
          </a:xfrm>
          <a:prstGeom prst="roundRect">
            <a:avLst>
              <a:gd name="adj" fmla="val 3636"/>
            </a:avLst>
          </a:prstGeom>
          <a:solidFill>
            <a:srgbClr val="2FB765">
              <a:alpha val="1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914382" y="1684782"/>
            <a:ext cx="502920" cy="502920"/>
          </a:xfrm>
          <a:prstGeom prst="roundRect">
            <a:avLst>
              <a:gd name="adj" fmla="val 3636"/>
            </a:avLst>
          </a:prstGeom>
          <a:solidFill>
            <a:srgbClr val="2FB765">
              <a:alpha val="1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593324" y="1684782"/>
            <a:ext cx="502920" cy="502920"/>
          </a:xfrm>
          <a:prstGeom prst="roundRect">
            <a:avLst>
              <a:gd name="adj" fmla="val 3636"/>
            </a:avLst>
          </a:prstGeom>
          <a:solidFill>
            <a:srgbClr val="2FB765">
              <a:alpha val="1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235440" y="2363724"/>
            <a:ext cx="502920" cy="502920"/>
          </a:xfrm>
          <a:prstGeom prst="roundRect">
            <a:avLst>
              <a:gd name="adj" fmla="val 3636"/>
            </a:avLst>
          </a:prstGeom>
          <a:solidFill>
            <a:srgbClr val="2FB765">
              <a:alpha val="1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914382" y="2363724"/>
            <a:ext cx="502920" cy="502920"/>
          </a:xfrm>
          <a:prstGeom prst="roundRect">
            <a:avLst>
              <a:gd name="adj" fmla="val 3636"/>
            </a:avLst>
          </a:prstGeom>
          <a:solidFill>
            <a:srgbClr val="2FB765">
              <a:alpha val="1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93324" y="2363724"/>
            <a:ext cx="502920" cy="502920"/>
          </a:xfrm>
          <a:prstGeom prst="roundRect">
            <a:avLst>
              <a:gd name="adj" fmla="val 3636"/>
            </a:avLst>
          </a:prstGeom>
          <a:solidFill>
            <a:srgbClr val="2FB765">
              <a:alpha val="15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14630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2FB7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 PROMESSE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103120"/>
            <a:ext cx="8595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la fin de chaque séance,</a:t>
            </a:r>
            <a:endParaRPr lang="en-US" sz="36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vous donne le code officiel.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3931920"/>
            <a:ext cx="8595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100" i="1" dirty="0">
                <a:solidFill>
                  <a:srgbClr val="2FB7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si tu n'as pas fini. Même si tu étais absent.</a:t>
            </a:r>
            <a:endParaRPr lang="en-US" sz="21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100" i="1" dirty="0">
                <a:solidFill>
                  <a:srgbClr val="2FB7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samedi, tout le monde repart du même point.</a:t>
            </a:r>
            <a:endParaRPr lang="en-US" sz="21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12064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cette formation, on ne peut pas prendre du retard.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53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LES NOTES ?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n'y en a pas. Ni classement.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34442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2514600"/>
            <a:ext cx="566928" cy="56692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3218688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Ça marche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3730752"/>
            <a:ext cx="298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programme fait ce qu'on lui demande.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358640" y="2286000"/>
            <a:ext cx="34442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87240" y="2514600"/>
            <a:ext cx="566928" cy="566928"/>
          </a:xfrm>
          <a:prstGeom prst="ellipse">
            <a:avLst/>
          </a:prstGeom>
          <a:solidFill>
            <a:srgbClr val="13678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8724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4587240" y="3218688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36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sais l'expliquer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4587240" y="3730752"/>
            <a:ext cx="298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peux dire à quoi sert chaque ligne.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8077200" y="2286000"/>
            <a:ext cx="34442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305800" y="2514600"/>
            <a:ext cx="566928" cy="566928"/>
          </a:xfrm>
          <a:prstGeom prst="ellipse">
            <a:avLst/>
          </a:prstGeom>
          <a:solidFill>
            <a:srgbClr val="6B2D8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30580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8305800" y="3218688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sais le refaire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8305800" y="3730752"/>
            <a:ext cx="298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seul, sans le modèle.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chose est acquise quand ces trois-là sont vraies. C'est tout.</a:t>
            </a:r>
            <a:endParaRPr lang="en-US" sz="2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55 - 13 h 05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182880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971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</a:t>
            </a:r>
            <a:endParaRPr lang="en-US" sz="48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8862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minutes. Levez-vous, sortez, bougez.   ·   Retour à 13 h 05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05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869680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635033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400386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869680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635033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400386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869680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635033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400386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16459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MAINTENANT…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28600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ALLUME</a:t>
            </a:r>
            <a:endParaRPr lang="en-US" sz="54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MACHINES.</a:t>
            </a:r>
            <a:endParaRPr lang="en-US" sz="5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05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CONTACT MACHINE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Thonny : trois repères, pas plus.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34442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2514600"/>
            <a:ext cx="566928" cy="566928"/>
          </a:xfrm>
          <a:prstGeom prst="ellipse">
            <a:avLst/>
          </a:prstGeom>
          <a:solidFill>
            <a:srgbClr val="6B2D8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3218688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zone blanche, en haut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3730752"/>
            <a:ext cx="298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là qu'on ÉCRIT son programme.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358640" y="2286000"/>
            <a:ext cx="34442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87240" y="2514600"/>
            <a:ext cx="566928" cy="566928"/>
          </a:xfrm>
          <a:prstGeom prst="ellipse">
            <a:avLst/>
          </a:prstGeom>
          <a:solidFill>
            <a:srgbClr val="5A5A7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8724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4587240" y="3218688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zone grise, en bas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4587240" y="3730752"/>
            <a:ext cx="298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là que l'ordinateur RÉPOND — et là que le joueur tapera sa réponse.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8077200" y="2286000"/>
            <a:ext cx="34442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305800" y="2514600"/>
            <a:ext cx="566928" cy="56692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30580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8305800" y="3218688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bouton vert, ou F5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8305800" y="3730752"/>
            <a:ext cx="298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« VAS-Y ». Rien ne se passe tant qu'on n'appuie pas dessus.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08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ICI, ON NE LÈVE PAS LA MAIN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lève une carte.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2377440" cy="1828800"/>
          </a:xfrm>
          <a:prstGeom prst="roundRect">
            <a:avLst>
              <a:gd name="adj" fmla="val 4000"/>
            </a:avLst>
          </a:prstGeom>
          <a:solidFill>
            <a:srgbClr val="2FB765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22960" y="24871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301752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ça avance,</a:t>
            </a:r>
            <a:endParaRPr lang="en-US" sz="14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va bien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337560" y="2286000"/>
            <a:ext cx="2377440" cy="1828800"/>
          </a:xfrm>
          <a:prstGeom prst="roundRect">
            <a:avLst>
              <a:gd name="adj" fmla="val 4000"/>
            </a:avLst>
          </a:prstGeom>
          <a:solidFill>
            <a:srgbClr val="FFB74D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520440" y="24871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3520440" y="301752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suis bloqué —</a:t>
            </a:r>
            <a:endParaRPr lang="en-US" sz="14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continue à chercher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035040" y="2286000"/>
            <a:ext cx="2377440" cy="1828800"/>
          </a:xfrm>
          <a:prstGeom prst="roundRect">
            <a:avLst>
              <a:gd name="adj" fmla="val 4000"/>
            </a:avLst>
          </a:prstGeom>
          <a:solidFill>
            <a:srgbClr val="FF6B6B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217920" y="24871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301752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problème de machine :</a:t>
            </a:r>
            <a:endParaRPr lang="en-US" sz="14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 ne démarre pas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732520" y="2286000"/>
            <a:ext cx="2377440" cy="1828800"/>
          </a:xfrm>
          <a:prstGeom prst="roundRect">
            <a:avLst>
              <a:gd name="adj" fmla="val 4000"/>
            </a:avLst>
          </a:prstGeom>
          <a:solidFill>
            <a:srgbClr val="4FC3F7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915400" y="24871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BLEU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8915400" y="301752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j'ai fini,</a:t>
            </a:r>
            <a:endParaRPr lang="en-US" sz="14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veux le défi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Bloqué ? Trois choses avant l'orange : je relis la consigne · je demande à mon voisin · je regarde ma fiche.</a:t>
            </a:r>
            <a:endParaRPr lang="en-US" sz="2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12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VOTRE ÉCRAN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programme est déjà écrit. Il marche.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640080" y="2194560"/>
            <a:ext cx="10881360" cy="1600200"/>
          </a:xfrm>
          <a:prstGeom prst="roundRect">
            <a:avLst>
              <a:gd name="adj" fmla="val 4571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423160"/>
            <a:ext cx="10241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print("===================================")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       BIENVENUE DANS LE JEU XO")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print("===================================")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0233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ligne print affiche ce qu'il y a entre les guillemets. Voilà : vous savez le lire.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ne l'apprend pas aujourd'hui. On s'en sert — et on passe à la vraie leçon du jour.</a:t>
            </a:r>
            <a:endParaRPr lang="en-US" sz="2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14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12801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MAINTENANT, JE CASSE TOUT.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1920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print("Bonjour)</a:t>
            </a:r>
            <a:endParaRPr lang="en-US" sz="4400" dirty="0"/>
          </a:p>
        </p:txBody>
      </p:sp>
      <p:sp>
        <p:nvSpPr>
          <p:cNvPr id="14" name="Shape 12"/>
          <p:cNvSpPr/>
          <p:nvPr/>
        </p:nvSpPr>
        <p:spPr>
          <a:xfrm>
            <a:off x="640080" y="310896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2A1420"/>
          </a:solidFill>
          <a:ln w="19050">
            <a:solidFill>
              <a:srgbClr val="FF6B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05840" y="3291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SyntaxError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794760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manque un guillemet. L'ordinateur te dit ce qu'il n'a pas compris, et il te montre la ligne.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8463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rouge n'est pas une punition. LE ROUGE EST UNE INFORMATION.</a:t>
            </a:r>
            <a:endParaRPr lang="en-US" sz="2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17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VOUS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1 : mettez votre prénom.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457200" cy="457200"/>
          </a:xfrm>
          <a:prstGeom prst="ellipse">
            <a:avLst/>
          </a:prstGeom>
          <a:solidFill>
            <a:srgbClr val="6B2D8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2340864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Ouvre GEEKS → mon_xo → jeu.py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40080" y="2971800"/>
            <a:ext cx="457200" cy="457200"/>
          </a:xfrm>
          <a:prstGeom prst="ellipse">
            <a:avLst/>
          </a:prstGeom>
          <a:solidFill>
            <a:srgbClr val="6B2D8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2971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325880" y="3026664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Appuie sur F5 TOUT DE SUITE : il marche déjà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40080" y="3657600"/>
            <a:ext cx="457200" cy="457200"/>
          </a:xfrm>
          <a:prstGeom prst="ellipse">
            <a:avLst/>
          </a:prstGeom>
          <a:solidFill>
            <a:srgbClr val="6B2D8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3712464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1 : remplace ____ par ton prénom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40080" y="4343400"/>
            <a:ext cx="457200" cy="457200"/>
          </a:xfrm>
          <a:prstGeom prst="ellipse">
            <a:avLst/>
          </a:prstGeom>
          <a:solidFill>
            <a:srgbClr val="6B2D8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325880" y="4398264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Relance (F5). Ton prénom s'affiche.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minutes. Tout le monde doit avoir vu son prénom s'afficher.</a:t>
            </a:r>
            <a:endParaRPr lang="en-US" sz="2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25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869680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635033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400386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869680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635033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400386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869680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635033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400386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640080" y="2057400"/>
            <a:ext cx="1051560" cy="1051560"/>
          </a:xfrm>
          <a:prstGeom prst="ellipse">
            <a:avLst/>
          </a:prstGeom>
          <a:solidFill>
            <a:srgbClr val="6B2D8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080" y="205740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400" dirty="0"/>
          </a:p>
        </p:txBody>
      </p:sp>
      <p:sp>
        <p:nvSpPr>
          <p:cNvPr id="23" name="Text 21"/>
          <p:cNvSpPr txBox="1"/>
          <p:nvPr/>
        </p:nvSpPr>
        <p:spPr>
          <a:xfrm>
            <a:off x="2103120" y="21031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LEÇON DU JOUR</a:t>
            </a:r>
            <a:endParaRPr lang="en-US" sz="4000" dirty="0"/>
          </a:p>
        </p:txBody>
      </p:sp>
      <p:sp>
        <p:nvSpPr>
          <p:cNvPr id="24" name="Text 22"/>
          <p:cNvSpPr txBox="1"/>
          <p:nvPr/>
        </p:nvSpPr>
        <p:spPr>
          <a:xfrm>
            <a:off x="2103120" y="320040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boîte, une étiquette — et une question au joueur.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25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VARIABLE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boîte avec une étiquette.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640080" y="2194560"/>
            <a:ext cx="5120640" cy="2103120"/>
          </a:xfrm>
          <a:prstGeom prst="roundRect">
            <a:avLst>
              <a:gd name="adj" fmla="val 3478"/>
            </a:avLst>
          </a:prstGeom>
          <a:solidFill>
            <a:srgbClr val="FFF6D8"/>
          </a:solidFill>
          <a:ln w="19050">
            <a:solidFill>
              <a:srgbClr val="D79A00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005840" y="24688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</a:t>
            </a:r>
            <a:endParaRPr lang="en-US" sz="4400" dirty="0"/>
          </a:p>
        </p:txBody>
      </p:sp>
      <p:sp>
        <p:nvSpPr>
          <p:cNvPr id="16" name="Text 14"/>
          <p:cNvSpPr txBox="1"/>
          <p:nvPr/>
        </p:nvSpPr>
        <p:spPr>
          <a:xfrm>
            <a:off x="2286000" y="26060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A65D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2286000" y="3154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l'étiquette collée sur la boîte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286000" y="36118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"Damien"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6492240" y="2194560"/>
            <a:ext cx="5029200" cy="2103120"/>
          </a:xfrm>
          <a:prstGeom prst="roundRect">
            <a:avLst>
              <a:gd name="adj" fmla="val 3478"/>
            </a:avLst>
          </a:prstGeom>
          <a:solidFill>
            <a:srgbClr val="12122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12280" y="2423160"/>
            <a:ext cx="4389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22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 = "Damien"</a:t>
            </a:r>
            <a:endParaRPr lang="en-US" sz="22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2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print(nom)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Qu'est-ce qui va s'afficher :  nom,  ou  Damien  ?</a:t>
            </a:r>
            <a:endParaRPr lang="en-US" sz="2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28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 LA DIFFÉRENCE EST LÀ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guillemets, ou sans.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640080" y="2194560"/>
            <a:ext cx="5394960" cy="960120"/>
          </a:xfrm>
          <a:prstGeom prst="roundRect">
            <a:avLst>
              <a:gd name="adj" fmla="val 7619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4231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print("nom")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2918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affiche le MOT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74904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6492240" y="2194560"/>
            <a:ext cx="5029200" cy="960120"/>
          </a:xfrm>
          <a:prstGeom prst="roundRect">
            <a:avLst>
              <a:gd name="adj" fmla="val 7619"/>
            </a:avLst>
          </a:prstGeom>
          <a:solidFill>
            <a:srgbClr val="12122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812280" y="242316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400" dirty="0">
                <a:solidFill>
                  <a:srgbClr val="FFB7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print(nom)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2918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affiche CE QU'IL Y A DANS LA BOÎTE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37490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Damien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guillemets veulent dire : « affiche exactement ça ».</a:t>
            </a:r>
            <a:endParaRPr lang="en-US" sz="2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30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MAINTENANT, LE JOUEUR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LUI qui remplit la boîte.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640080" y="219456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42316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 = input("Comment t'appelles-tu ? ")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40080" y="3474720"/>
            <a:ext cx="34442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68680" y="3730752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4261104"/>
            <a:ext cx="298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Ça veut dire DEMANDE. Le programme s'arrête et il attend.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358640" y="3474720"/>
            <a:ext cx="34442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4587240" y="3730752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joueur tape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4587240" y="4261104"/>
            <a:ext cx="298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 réponse s'écrit dans la zone grise du bas.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077200" y="3474720"/>
            <a:ext cx="34442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305800" y="3730752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hop, dans la boîte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8305800" y="4261104"/>
            <a:ext cx="298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qu'il a tapé est rangé dans nom. Le programme repart.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32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COLLER DU TEXTE ET UNE BOÎTE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+  met les morceaux bout à bout.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640080" y="219456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42316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print("Bonjour " + nom + " !")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40080" y="3566160"/>
            <a:ext cx="5303520" cy="1371600"/>
          </a:xfrm>
          <a:prstGeom prst="roundRect">
            <a:avLst>
              <a:gd name="adj" fmla="val 5333"/>
            </a:avLst>
          </a:prstGeom>
          <a:solidFill>
            <a:srgbClr val="EAF7EF"/>
          </a:solidFill>
          <a:ln w="19050">
            <a:solidFill>
              <a:srgbClr val="2FB765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14400" y="39776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C5C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Bonjour Damien !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6400800" y="3566160"/>
            <a:ext cx="5120640" cy="1371600"/>
          </a:xfrm>
          <a:prstGeom prst="roundRect">
            <a:avLst>
              <a:gd name="adj" fmla="val 5333"/>
            </a:avLst>
          </a:prstGeom>
          <a:solidFill>
            <a:srgbClr val="FDEDED"/>
          </a:solidFill>
          <a:ln w="19050">
            <a:solidFill>
              <a:srgbClr val="FF6B6B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675120" y="39776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BonjourDamien !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5029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avec l'espace après Bonjour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675120" y="50292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sans l'espace : il colle tout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33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VOUS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jeu demande son nom au joueur.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640080" y="2240280"/>
            <a:ext cx="438912" cy="438912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22402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298448" y="228600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2 : écris la question que ton jeu doit poser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40080" y="2880360"/>
            <a:ext cx="438912" cy="438912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28803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298448" y="29260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3 : ne touche à rien, elle marche déjà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40080" y="3520440"/>
            <a:ext cx="438912" cy="438912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3520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298448" y="356616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4 : écris ce que tu veux dire au joueur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640080" y="4160520"/>
            <a:ext cx="438912" cy="438912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41605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298448" y="420624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Relance (F5) après CHAQUE changement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6949440" y="2194560"/>
            <a:ext cx="4572000" cy="2103120"/>
          </a:xfrm>
          <a:prstGeom prst="roundRect">
            <a:avLst>
              <a:gd name="adj" fmla="val 3478"/>
            </a:avLst>
          </a:prstGeom>
          <a:solidFill>
            <a:srgbClr val="12122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269480" y="242316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Comment t'appelles-tu ? Damien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Bonjour Damien !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Prepare-toi a perdre, Damien !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minutes. Carte bleue quand tu as fini : le défi t'attend en bas de ton fichier.</a:t>
            </a:r>
            <a:endParaRPr lang="en-US" sz="2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35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L'ÉCRAN DEVIENT ROUGE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erreurs de la journée.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640080" y="2194560"/>
            <a:ext cx="10881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14400" y="239572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SyntaxError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840480" y="2414016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manque un guillemet ou une parenthèse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863840" y="239572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Compte tes guillemets : ils vont par deux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3063240"/>
            <a:ext cx="10881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14400" y="326440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NameError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3840480" y="3282696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boîte que l'ordinateur ne connaît pas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326440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nom et Nom, ce n'est pas pareil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0080" y="3931920"/>
            <a:ext cx="10881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914400" y="413308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BonjourDamien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3840480" y="4151376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L'espace manque dans "Bonjour "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863840" y="413308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Ajoute l'espace avant le guillemet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40080" y="4800600"/>
            <a:ext cx="10881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914400" y="500176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Rien ne se passe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3840480" y="5020056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as écrit dans la zone grise du bas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863840" y="500176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Remonte dans la zone blanche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rouge est une information. Celui qui en voit une lève le pouce.</a:t>
            </a:r>
            <a:endParaRPr lang="en-US" sz="2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47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1554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SAUVEGARDE.</a:t>
            </a:r>
            <a:endParaRPr lang="en-US" sz="46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5603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Ctrl + S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4747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L'étoile ⭑ doit disparaître à côté du nom du fichier.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2377440" y="4206240"/>
            <a:ext cx="7406640" cy="1280160"/>
          </a:xfrm>
          <a:prstGeom prst="roundRect">
            <a:avLst>
              <a:gd name="adj" fmla="val 5714"/>
            </a:avLst>
          </a:prstGeom>
          <a:solidFill>
            <a:srgbClr val="0E2A1A"/>
          </a:solidFill>
          <a:ln w="19050">
            <a:solidFill>
              <a:srgbClr val="2FB76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743200" y="443484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FB7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voici le code officiel de la séance : il est déjà sur votre poste, dans xo_officiel.</a:t>
            </a:r>
            <a:endParaRPr lang="en-US" sz="1700" dirty="0"/>
          </a:p>
          <a:p>
            <a:pPr algn="ctr"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FB7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Celui qui n'a pas fini l'a aussi. C'était ma promesse.</a:t>
            </a:r>
            <a:endParaRPr lang="en-US" sz="1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50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CLÔTURE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jeu a appris à écouter.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53035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2514600"/>
            <a:ext cx="566928" cy="566928"/>
          </a:xfrm>
          <a:prstGeom prst="ellipse">
            <a:avLst/>
          </a:prstGeom>
          <a:solidFill>
            <a:srgbClr val="6B2D8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321868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Mur de Mission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3730752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classe avance d'une case. Tout le monde vient l'écrire.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217920" y="2286000"/>
            <a:ext cx="53035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46520" y="2514600"/>
            <a:ext cx="566928" cy="566928"/>
          </a:xfrm>
          <a:prstGeom prst="ellipse">
            <a:avLst/>
          </a:prstGeom>
          <a:solidFill>
            <a:srgbClr val="13678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4652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6446520" y="321868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36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question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6446520" y="3730752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Qu'est-ce que vous avez compris aujourd'hui ? De quoi n'êtes-vous pas encore sûrs ?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écoute, on ne corrige pas. Ce qui revient le plus ouvrira samedi prochain.</a:t>
            </a:r>
            <a:endParaRPr lang="en-US" sz="2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h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052560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17913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583266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052560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817913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583266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052560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817913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83266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15544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 SAMEDI PROCHAIN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194560"/>
            <a:ext cx="8595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jeu saura parler</a:t>
            </a:r>
            <a:endParaRPr lang="en-US" sz="4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 DEUX joueurs.</a:t>
            </a:r>
            <a:endParaRPr lang="en-US" sz="40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20624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demandera leurs deux noms, et il saura qui joue les X et qui joue les O.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029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À samedi, les Geeks !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Seance 2 - Premier contact machine</dc:title>
  <dc:subject>PptxGenJS Presentation</dc:subject>
  <dc:creator>Jerusalem Geeks &amp; Jeremiah Geeks</dc:creator>
  <cp:lastModifiedBy>Jerusalem Geeks &amp; Jeremiah Geeks</cp:lastModifiedBy>
  <cp:revision>1</cp:revision>
  <dcterms:created xsi:type="dcterms:W3CDTF">2026-09-18T11:24:13Z</dcterms:created>
  <dcterms:modified xsi:type="dcterms:W3CDTF">2026-09-18T11:24:13Z</dcterms:modified>
</cp:coreProperties>
</file>